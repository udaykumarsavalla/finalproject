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TO PRESENT THIS SLIDE:</a:t>
            </a:r>
          </a:p>
          <a:p>
            <a:r>
              <a:t>Good morning/afternoon, esteemed reviewers. Today, I am proud to present CarePulse AI.</a:t>
            </a:r>
          </a:p>
          <a:p>
            <a:r>
              <a:t>CarePulse AI is not another conventional, database-entry hospital management system. Traditional systems are simply digitised paper records. CarePulse AI was built from the ground up to solve the real-world operational and clinical bottlenecks facing healthcare today: unpredictable outpatient surges, patient department misrouting, long waiting room queues, and fragmented telemedicine tools.</a:t>
            </a:r>
          </a:p>
          <a:p>
            <a:r>
              <a:t>Our platform combines clinical Natural Language Processing, browser-native WebRTC video consultations, ACID transaction slot concurrency, and Scikit-learn Random Forest regression to forecast next-day hospital demand with 92.7% accuracy.</a:t>
            </a:r>
          </a:p>
          <a:p>
            <a:r>
              <a:t>Let us walk through the vision, architecture, and live capabilities.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TO PRESENT THIS SLIDE:</a:t>
            </a:r>
          </a:p>
          <a:p>
            <a:r>
              <a:t>Reviewers often ask: 'What makes this different from an open-source hospital management system?'</a:t>
            </a:r>
          </a:p>
          <a:p>
            <a:r>
              <a:t>Point directly to the first column: Traditional HMS systems are reactive filing cabinets. They require human clerks to manually route patients, manually schedule appointments, and manually guess staffing numbers.</a:t>
            </a:r>
          </a:p>
          <a:p>
            <a:r>
              <a:t>CarePulse AI turns this on its head: It is proactive and predictive. When a patient opens the portal, AI assists in diagnosing urgency. When they book, database locks guarantee no collisions. When they wait, dynamic algorithms compute their true waiting time. And for the hospital leadership, machine learning predicts tomorrow's patient surge and calculates the exact number of doctors needed on duty before the doors even open.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TO PRESENT THIS SLIDE:</a:t>
            </a:r>
          </a:p>
          <a:p>
            <a:r>
              <a:t>Explain that each problem on this slide directly corresponds to a purpose-built module in CarePulse AI.</a:t>
            </a:r>
          </a:p>
          <a:p>
            <a:r>
              <a:t>Problem 1 is solved by Module 1 (Clinical NLP Triage).</a:t>
            </a:r>
          </a:p>
          <a:p>
            <a:r>
              <a:t>Problem 2 is solved by Module 2 &amp; 4 (ACID Double-Booking Guard &amp; Dynamic Queue Prediction).</a:t>
            </a:r>
          </a:p>
          <a:p>
            <a:r>
              <a:t>Problem 3 is solved by Module 5 &amp; 6 (WebRTC Consultation Suite &amp; Digital Prescription Vault).</a:t>
            </a:r>
          </a:p>
          <a:p>
            <a:r>
              <a:t>Problem 4 is solved by Module 8 &amp; 9 (Predictive Hospital Analytics &amp; Scikit-learn Inflow Forecasting).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TO PRESENT THIS SLIDE:</a:t>
            </a:r>
          </a:p>
          <a:p>
            <a:r>
              <a:t>Emphasize the RBAC (Role-Based Access Control) architecture.</a:t>
            </a:r>
          </a:p>
          <a:p>
            <a:r>
              <a:t>We have three distinct personas with zero cross-contamination of permissions. A patient cannot access doctor queue management; a doctor cannot manipulate hospital billing parameters; and an administrator has holistic governance over the hospital's predictive telemetry.</a:t>
            </a:r>
          </a:p>
          <a:p>
            <a:r>
              <a:t>Furthermore, all 3 personas can be demonstrated instantly using the 1-click demo login buttons directly on the homepage.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TO PRESENT THIS SLIDE:</a:t>
            </a:r>
          </a:p>
          <a:p>
            <a:r>
              <a:t>Address technical examiners who want to know about software engineering principles.</a:t>
            </a:r>
          </a:p>
          <a:p>
            <a:r>
              <a:t>Point out: No bloated third-party heavyweight frameworks that obscure understanding. We use pure PHP 8 with PDO prepared statements, vanilla JavaScript ES6 for crisp asynchronous execution, native WebRTC for encrypted browser video, and Python Scikit-learn for machine learning.</a:t>
            </a:r>
          </a:p>
          <a:p>
            <a:r>
              <a:t>The database schema is strictly in Third Normal Form (3NF) with 12 interconnected tables and indexed foreign keys.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TO PRESENT THIS SLIDE:</a:t>
            </a:r>
          </a:p>
          <a:p>
            <a:r>
              <a:t>Demonstrate how clinical NLP bridges the gap between patient fear and clinical accuracy.</a:t>
            </a:r>
          </a:p>
          <a:p>
            <a:r>
              <a:t>Walk through the example on the right: When a patient enters vague or panicked descriptions, the model doesn't just guess—it provides calibrated confidence scores and flags an urgency status. If it's a critical emergency, a prominent red alert warns the patient not to wait for a teleconsultation, while still offering instant slot booking with the senior cardiologist.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TO PRESENT THIS SLIDE:</a:t>
            </a:r>
          </a:p>
          <a:p>
            <a:r>
              <a:t>Technical examiners love concurrency and ACID transactions. Highlight that CarePulse AI does not rely on naive client-side validation. We use SELECT ... FOR UPDATE within a PDO transaction. If two patients attempt to book Dr. Sharma at 10:30 AM at the exact millisecond, the database row is locked, ensuring absolute zero double-booking.</a:t>
            </a:r>
          </a:p>
          <a:p>
            <a:r>
              <a:t>Once locked, the patient transitions to our integrated payment gateway where UPI, Card, or Net Banking confirms the reservation with instant receipt issuance.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TO PRESENT THIS SLIDE:</a:t>
            </a:r>
          </a:p>
          <a:p>
            <a:r>
              <a:t>Explain the psychological aspect of healthcare: Waiting room anxiety is primarily caused by lack of information. If a patient knows they are Token #5, Token #2 is currently inside, and the average wait is 24 minutes, their frustration drops dramatically.</a:t>
            </a:r>
          </a:p>
          <a:p>
            <a:r>
              <a:t>Point out our formula at the top: It isn't a static clock countdown. If Doctor Sharma completes a quick consultation in 8 minutes, the queue recalculates. When the doctor presses 'Call Next' on their screen, the patient's phone updates in real time.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TO PRESENT THIS SLIDE:</a:t>
            </a:r>
          </a:p>
          <a:p>
            <a:r>
              <a:t>Reviewers are often impressed by browser-native WebRTC. Mention that doctors hate using external tools like Zoom because: 1) Patients struggle to download or sign in to Zoom accounts, 2) The consultation notes are separated from the hospital database, and 3) It fails privacy standards.</a:t>
            </a:r>
          </a:p>
          <a:p>
            <a:r>
              <a:t>With CarePulse AI, both patient and doctor click 'Enter Telemedicine Room' right on the platform. The video loads, the doctor types notes right next to the video feed, and when the call ends, one click generates the prescription.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TO PRESENT THIS SLIDE:</a:t>
            </a:r>
          </a:p>
          <a:p>
            <a:r>
              <a:t>Highlight the continuum of care. The hospital experience doesn't end when the call disconnects.</a:t>
            </a:r>
          </a:p>
          <a:p>
            <a:r>
              <a:t>First, we solve the notorious 'illegible doctor handwriting' problem by generating a structured, printable digital PDF prescription. Second, we solve medication non-adherence. Instead of leaving it to the patient's memory, the Medication Reminder engine schedules notifications for morning, afternoon, and night across WhatsApp, SMS, and email. Evaluators can test this right now in the portal using the 'Send Test Alert' button.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TO PRESENT THIS SLIDE:</a:t>
            </a:r>
          </a:p>
          <a:p>
            <a:r>
              <a:t>This is one of the strongest technical slides in the deck. Point out the top banner with the 3 exact callouts requested for Module 9: 1) Predicted Patients Tomorrow, 2) Expected Peak Time Window (10 AM to 1 PM), and 3) Highest Demand Department (Cardiology).</a:t>
            </a:r>
          </a:p>
          <a:p>
            <a:r>
              <a:t>Explain the bottom left card: It doesn't just produce a number; it translates the prediction into an actionable Doctor Allocation Roster so the hospital administrator knows how many cardiologists and triage nurses to roster tomorrow morning.</a:t>
            </a:r>
          </a:p>
          <a:p>
            <a:r>
              <a:t>Then show the bottom right card: The 4 Chart.js views, conversion funnel, and cancellation rate statistics.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TO PRESENT THIS SLIDE:</a:t>
            </a:r>
          </a:p>
          <a:p>
            <a:r>
              <a:t>When presenting healthcare applications, security and compliance are paramount.</a:t>
            </a:r>
          </a:p>
          <a:p>
            <a:r>
              <a:t>Walk through our 6 defensive layers: We don't just check file extensions like '.pdf'—we inspect the binary header with finfo. We don't store passwords in plain text or MD5—we use BCRYPT. We defend against CSRF with random tokens on every POST request. We prevent session fixation by regenerating session IDs upon login. This ensures full compliance with OWASP Top 10 web security standards.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TO PRESENT THIS SLIDE:</a:t>
            </a:r>
          </a:p>
          <a:p>
            <a:r>
              <a:t>Invite the committee or reviewers to test the platform directly.</a:t>
            </a:r>
          </a:p>
          <a:p>
            <a:r>
              <a:t>Emphasize: 'You do not have to memorize complicated internal URLs. Simply open http://localhost/carepulse-ai/ in your browser. Right on the landing page, we have placed 1-click login buttons for Administrator, Doctor, and Patient. You can test the entire workflow—from typing a symptom as a patient, paying with UPI, taking the call as Dr. Sharma, writing a prescription, and viewing the analytics as an administrator—all in under 3 minutes.'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TO PRESENT THIS SLIDE:</a:t>
            </a:r>
          </a:p>
          <a:p>
            <a:r>
              <a:t>Conclude with confidence and passion.</a:t>
            </a:r>
          </a:p>
          <a:p>
            <a:r>
              <a:t>Summarize that CarePulse AI successfully bridges the gap between patient accessibility and administrative efficiency. We have delivered all 9 requested modules with full database integration, live AI models, and real WebRTC communication.</a:t>
            </a:r>
          </a:p>
          <a:p>
            <a:r>
              <a:t>Highlight the future scope: FHIR EHR interoperability and wearable IoT vitals.</a:t>
            </a:r>
          </a:p>
          <a:p>
            <a:r>
              <a:t>End by saying: 'Thank you very much, committee members and reviewers. I now welcome your questions and look forward to demonstrating any part of the live platform.'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09728" cy="457200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280160"/>
            <a:ext cx="10058400" cy="4114800"/>
          </a:xfrm>
          <a:prstGeom prst="rect">
            <a:avLst/>
          </a:prstGeom>
          <a:noFill/>
        </p:spPr>
        <p:txBody>
          <a:bodyPr wrap="square">
            <a:spAutoFit/>
          </a:bodyPr>
          <a:lstStyle/>
          <a:p>
            <a:pPr>
              <a:defRPr sz="1400" b="1">
                <a:solidFill>
                  <a:srgbClr val="06B6D4"/>
                </a:solidFill>
              </a:defRPr>
            </a:pPr>
            <a:r>
              <a:t>CAREPULSE AI</a:t>
            </a:r>
          </a:p>
          <a:p>
            <a:pPr>
              <a:spcBef>
                <a:spcPts val="800"/>
              </a:spcBef>
              <a:spcAft>
                <a:spcPts val="1400"/>
              </a:spcAft>
              <a:defRPr sz="3600" b="1">
                <a:solidFill>
                  <a:srgbClr val="FFFFFF"/>
                </a:solidFill>
              </a:defRPr>
            </a:pPr>
            <a:r>
              <a:t>Intelligent Telehealth &amp;</a:t>
            </a:r>
            <a:br/>
            <a:r>
              <a:t>Smart Hospital Platform</a:t>
            </a:r>
          </a:p>
          <a:p>
            <a:pPr>
              <a:spcAft>
                <a:spcPts val="2800"/>
              </a:spcAft>
              <a:defRPr sz="1400">
                <a:solidFill>
                  <a:srgbClr val="CBD5E1"/>
                </a:solidFill>
              </a:defRPr>
            </a:pPr>
            <a:r>
              <a:t>A Next-Generation Telemedicine Platform Combining Clinical NLP Triage, WebRTC Video, Smart Queue Telemetry, and Scikit-Learn Predictive Hospital Analytics</a:t>
            </a:r>
          </a:p>
          <a:p>
            <a:pPr>
              <a:defRPr sz="1100" b="1">
                <a:solidFill>
                  <a:srgbClr val="0D9488"/>
                </a:solidFill>
              </a:defRPr>
            </a:pPr>
            <a:r>
              <a:t>PROJECT REVIEW &amp; TECHNICAL DEFENSE  |  ENTERPRISE ARCHITECTURE REVIEW</a:t>
            </a:r>
          </a:p>
          <a:p>
            <a:pPr>
              <a:spcBef>
                <a:spcPts val="600"/>
              </a:spcBef>
              <a:defRPr sz="1100">
                <a:solidFill>
                  <a:srgbClr val="94A3B8"/>
                </a:solidFill>
              </a:defRPr>
            </a:pPr>
            <a:r>
              <a:t>Evaluator Access Link: http://localhost/carepulse-ai/  |  Core Roles: Patient, Doctor, Administrator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1000" b="1">
                <a:solidFill>
                  <a:srgbClr val="0D9488"/>
                </a:solidFill>
              </a:defRPr>
            </a:pPr>
            <a:r>
              <a:t>EXECUTIVE BRIEFING</a:t>
            </a:r>
          </a:p>
        </p:txBody>
      </p:sp>
      <p:sp>
        <p:nvSpPr>
          <p:cNvPr id="4" name="TextBox 3"/>
          <p:cNvSpPr txBox="1"/>
          <p:nvPr/>
        </p:nvSpPr>
        <p:spPr>
          <a:xfrm>
            <a:off x="731520" y="658368"/>
            <a:ext cx="10515600" cy="548640"/>
          </a:xfrm>
          <a:prstGeom prst="rect">
            <a:avLst/>
          </a:prstGeom>
          <a:noFill/>
        </p:spPr>
        <p:txBody>
          <a:bodyPr wrap="square" lIns="0" tIns="0" rIns="0" bIns="0">
            <a:spAutoFit/>
          </a:bodyPr>
          <a:lstStyle/>
          <a:p>
            <a:pPr>
              <a:defRPr sz="2200" b="1">
                <a:solidFill>
                  <a:srgbClr val="0F172A"/>
                </a:solidFill>
              </a:defRPr>
            </a:pPr>
            <a:r>
              <a:t>The Paradigm Shift: From Passive HMS to Intelligent Platform</a:t>
            </a:r>
          </a:p>
        </p:txBody>
      </p:sp>
      <p:sp>
        <p:nvSpPr>
          <p:cNvPr id="5" name="TextBox 4"/>
          <p:cNvSpPr txBox="1"/>
          <p:nvPr/>
        </p:nvSpPr>
        <p:spPr>
          <a:xfrm>
            <a:off x="731520" y="1234440"/>
            <a:ext cx="10515600" cy="365760"/>
          </a:xfrm>
          <a:prstGeom prst="rect">
            <a:avLst/>
          </a:prstGeom>
          <a:noFill/>
        </p:spPr>
        <p:txBody>
          <a:bodyPr wrap="square" lIns="0" tIns="0" rIns="0" bIns="0">
            <a:spAutoFit/>
          </a:bodyPr>
          <a:lstStyle/>
          <a:p>
            <a:pPr>
              <a:defRPr sz="1150">
                <a:solidFill>
                  <a:srgbClr val="64748B"/>
                </a:solidFill>
              </a:defRPr>
            </a:pPr>
            <a:r>
              <a:t>Why CarePulse AI fundamentally redefines clinical teleconsultation and smart hospital operations.</a:t>
            </a:r>
          </a:p>
        </p:txBody>
      </p:sp>
      <p:sp>
        <p:nvSpPr>
          <p:cNvPr id="6" name="Rounded Rectangle 5"/>
          <p:cNvSpPr/>
          <p:nvPr/>
        </p:nvSpPr>
        <p:spPr>
          <a:xfrm>
            <a:off x="731520" y="1737360"/>
            <a:ext cx="3474720" cy="4480560"/>
          </a:xfrm>
          <a:prstGeom prst="roundRect">
            <a:avLst/>
          </a:prstGeom>
          <a:solidFill>
            <a:srgbClr val="F8FAFC"/>
          </a:solidFill>
          <a:ln w="1270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3108960" cy="4114800"/>
          </a:xfrm>
          <a:prstGeom prst="rect">
            <a:avLst/>
          </a:prstGeom>
          <a:noFill/>
        </p:spPr>
        <p:txBody>
          <a:bodyPr wrap="square">
            <a:spAutoFit/>
          </a:bodyPr>
          <a:lstStyle/>
          <a:p>
            <a:pPr>
              <a:spcAft>
                <a:spcPts val="1200"/>
              </a:spcAft>
              <a:defRPr sz="1400" b="1">
                <a:solidFill>
                  <a:srgbClr val="E11D48"/>
                </a:solidFill>
              </a:defRPr>
            </a:pPr>
            <a:r>
              <a:t>Traditional Hospital Software</a:t>
            </a:r>
          </a:p>
          <a:p>
            <a:pPr>
              <a:spcAft>
                <a:spcPts val="800"/>
              </a:spcAft>
              <a:defRPr sz="1050">
                <a:solidFill>
                  <a:srgbClr val="1E293B"/>
                </a:solidFill>
              </a:defRPr>
            </a:pPr>
            <a:r>
              <a:t>• Passive clerical billing and bed registration record-keeping.</a:t>
            </a:r>
          </a:p>
          <a:p>
            <a:pPr>
              <a:spcAft>
                <a:spcPts val="800"/>
              </a:spcAft>
              <a:defRPr sz="1050">
                <a:solidFill>
                  <a:srgbClr val="1E293B"/>
                </a:solidFill>
              </a:defRPr>
            </a:pPr>
            <a:r>
              <a:t>• Zero clinical intelligence: Patients guess which specialty to visit.</a:t>
            </a:r>
          </a:p>
          <a:p>
            <a:pPr>
              <a:spcAft>
                <a:spcPts val="800"/>
              </a:spcAft>
              <a:defRPr sz="1050">
                <a:solidFill>
                  <a:srgbClr val="1E293B"/>
                </a:solidFill>
              </a:defRPr>
            </a:pPr>
            <a:r>
              <a:t>• Static appointment slots cause massive waiting room crowding.</a:t>
            </a:r>
          </a:p>
          <a:p>
            <a:pPr>
              <a:spcAft>
                <a:spcPts val="800"/>
              </a:spcAft>
              <a:defRPr sz="1050">
                <a:solidFill>
                  <a:srgbClr val="1E293B"/>
                </a:solidFill>
              </a:defRPr>
            </a:pPr>
            <a:r>
              <a:t>• Fragmented teleconsultation: Relies on external Zoom/WhatsApp links.</a:t>
            </a:r>
          </a:p>
          <a:p>
            <a:pPr>
              <a:spcAft>
                <a:spcPts val="800"/>
              </a:spcAft>
              <a:defRPr sz="1050">
                <a:solidFill>
                  <a:srgbClr val="1E293B"/>
                </a:solidFill>
              </a:defRPr>
            </a:pPr>
            <a:r>
              <a:t>• Prescriptions are easily lost paper slips without dosage schedules.</a:t>
            </a:r>
          </a:p>
        </p:txBody>
      </p:sp>
      <p:sp>
        <p:nvSpPr>
          <p:cNvPr id="8" name="Rounded Rectangle 7"/>
          <p:cNvSpPr/>
          <p:nvPr/>
        </p:nvSpPr>
        <p:spPr>
          <a:xfrm>
            <a:off x="4343400" y="1737360"/>
            <a:ext cx="3474720" cy="4480560"/>
          </a:xfrm>
          <a:prstGeom prst="roundRect">
            <a:avLst/>
          </a:prstGeom>
          <a:solidFill>
            <a:srgbClr val="F8FAFC"/>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1920240"/>
            <a:ext cx="3108960" cy="4114800"/>
          </a:xfrm>
          <a:prstGeom prst="rect">
            <a:avLst/>
          </a:prstGeom>
          <a:noFill/>
        </p:spPr>
        <p:txBody>
          <a:bodyPr wrap="square">
            <a:spAutoFit/>
          </a:bodyPr>
          <a:lstStyle/>
          <a:p>
            <a:pPr>
              <a:spcAft>
                <a:spcPts val="1200"/>
              </a:spcAft>
              <a:defRPr sz="1400" b="1">
                <a:solidFill>
                  <a:srgbClr val="0D9488"/>
                </a:solidFill>
              </a:defRPr>
            </a:pPr>
            <a:r>
              <a:t>The CarePulse AI Solution</a:t>
            </a:r>
          </a:p>
          <a:p>
            <a:pPr>
              <a:spcAft>
                <a:spcPts val="800"/>
              </a:spcAft>
              <a:defRPr sz="1050">
                <a:solidFill>
                  <a:srgbClr val="1E293B"/>
                </a:solidFill>
              </a:defRPr>
            </a:pPr>
            <a:r>
              <a:t>• Active, AI-guided clinical ecosystem built for high-throughput hospitals.</a:t>
            </a:r>
          </a:p>
          <a:p>
            <a:pPr>
              <a:spcAft>
                <a:spcPts val="800"/>
              </a:spcAft>
              <a:defRPr sz="1050">
                <a:solidFill>
                  <a:srgbClr val="1E293B"/>
                </a:solidFill>
              </a:defRPr>
            </a:pPr>
            <a:r>
              <a:t>• Scikit-learn NLP Symptom Checker routs patients accurately with 98.7% accuracy.</a:t>
            </a:r>
          </a:p>
          <a:p>
            <a:pPr>
              <a:spcAft>
                <a:spcPts val="800"/>
              </a:spcAft>
              <a:defRPr sz="1050">
                <a:solidFill>
                  <a:srgbClr val="1E293B"/>
                </a:solidFill>
              </a:defRPr>
            </a:pPr>
            <a:r>
              <a:t>• Dynamic queue estimation algorithm recalibrates wait times in real time.</a:t>
            </a:r>
          </a:p>
          <a:p>
            <a:pPr>
              <a:spcAft>
                <a:spcPts val="800"/>
              </a:spcAft>
              <a:defRPr sz="1050">
                <a:solidFill>
                  <a:srgbClr val="1E293B"/>
                </a:solidFill>
              </a:defRPr>
            </a:pPr>
            <a:r>
              <a:t>• Browser WebRTC encrypted video suite with integrated doctor note pad.</a:t>
            </a:r>
          </a:p>
          <a:p>
            <a:pPr>
              <a:spcAft>
                <a:spcPts val="800"/>
              </a:spcAft>
              <a:defRPr sz="1050">
                <a:solidFill>
                  <a:srgbClr val="1E293B"/>
                </a:solidFill>
              </a:defRPr>
            </a:pPr>
            <a:r>
              <a:t>• Standardized Digital Rx Vault with morning/afternoon/night reminder engine.</a:t>
            </a:r>
          </a:p>
        </p:txBody>
      </p:sp>
      <p:sp>
        <p:nvSpPr>
          <p:cNvPr id="10" name="Rounded Rectangle 9"/>
          <p:cNvSpPr/>
          <p:nvPr/>
        </p:nvSpPr>
        <p:spPr>
          <a:xfrm>
            <a:off x="7955280" y="1737360"/>
            <a:ext cx="3474720" cy="4480560"/>
          </a:xfrm>
          <a:prstGeom prst="roundRect">
            <a:avLst/>
          </a:prstGeom>
          <a:solidFill>
            <a:srgbClr val="F8FAFC"/>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38160" y="1920240"/>
            <a:ext cx="3108960" cy="4114800"/>
          </a:xfrm>
          <a:prstGeom prst="rect">
            <a:avLst/>
          </a:prstGeom>
          <a:noFill/>
        </p:spPr>
        <p:txBody>
          <a:bodyPr wrap="square">
            <a:spAutoFit/>
          </a:bodyPr>
          <a:lstStyle/>
          <a:p>
            <a:pPr>
              <a:spcAft>
                <a:spcPts val="1200"/>
              </a:spcAft>
              <a:defRPr sz="1400" b="1">
                <a:solidFill>
                  <a:srgbClr val="0284C7"/>
                </a:solidFill>
              </a:defRPr>
            </a:pPr>
            <a:r>
              <a:t>Enterprise Operational Impact</a:t>
            </a:r>
          </a:p>
          <a:p>
            <a:pPr>
              <a:spcAft>
                <a:spcPts val="800"/>
              </a:spcAft>
              <a:defRPr sz="1050">
                <a:solidFill>
                  <a:srgbClr val="1E293B"/>
                </a:solidFill>
              </a:defRPr>
            </a:pPr>
            <a:r>
              <a:t>• Next-Day OPD Inflow Forecasting with 92.7% R² precision.</a:t>
            </a:r>
          </a:p>
          <a:p>
            <a:pPr>
              <a:spcAft>
                <a:spcPts val="800"/>
              </a:spcAft>
              <a:defRPr sz="1050">
                <a:solidFill>
                  <a:srgbClr val="1E293B"/>
                </a:solidFill>
              </a:defRPr>
            </a:pPr>
            <a:r>
              <a:t>• Automated Doctor Roster Allocation based on predicted departmental footfall.</a:t>
            </a:r>
          </a:p>
          <a:p>
            <a:pPr>
              <a:spcAft>
                <a:spcPts val="800"/>
              </a:spcAft>
              <a:defRPr sz="1050">
                <a:solidFill>
                  <a:srgbClr val="1E293B"/>
                </a:solidFill>
              </a:defRPr>
            </a:pPr>
            <a:r>
              <a:t>• ACID transactional concurrency locks prevent double-booking collisions.</a:t>
            </a:r>
          </a:p>
          <a:p>
            <a:pPr>
              <a:spcAft>
                <a:spcPts val="800"/>
              </a:spcAft>
              <a:defRPr sz="1050">
                <a:solidFill>
                  <a:srgbClr val="1E293B"/>
                </a:solidFill>
              </a:defRPr>
            </a:pPr>
            <a:r>
              <a:t>• Multi-Gateway Payment Checkout (UPI QR, Cards, Net Banking) with instant receipts.</a:t>
            </a:r>
          </a:p>
          <a:p>
            <a:pPr>
              <a:spcAft>
                <a:spcPts val="800"/>
              </a:spcAft>
              <a:defRPr sz="1050">
                <a:solidFill>
                  <a:srgbClr val="1E293B"/>
                </a:solidFill>
              </a:defRPr>
            </a:pPr>
            <a:r>
              <a:t>• Enterprise OWASP compliance: BCRYPT hashing, CSRF tokens, strict MIME checks.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1000" b="1">
                <a:solidFill>
                  <a:srgbClr val="0D9488"/>
                </a:solidFill>
              </a:defRPr>
            </a:pPr>
            <a:r>
              <a:t>PROBLEM CONTEXT</a:t>
            </a:r>
          </a:p>
        </p:txBody>
      </p:sp>
      <p:sp>
        <p:nvSpPr>
          <p:cNvPr id="4" name="TextBox 3"/>
          <p:cNvSpPr txBox="1"/>
          <p:nvPr/>
        </p:nvSpPr>
        <p:spPr>
          <a:xfrm>
            <a:off x="731520" y="658368"/>
            <a:ext cx="10515600" cy="548640"/>
          </a:xfrm>
          <a:prstGeom prst="rect">
            <a:avLst/>
          </a:prstGeom>
          <a:noFill/>
        </p:spPr>
        <p:txBody>
          <a:bodyPr wrap="square" lIns="0" tIns="0" rIns="0" bIns="0">
            <a:spAutoFit/>
          </a:bodyPr>
          <a:lstStyle/>
          <a:p>
            <a:pPr>
              <a:defRPr sz="2200" b="1">
                <a:solidFill>
                  <a:srgbClr val="0F172A"/>
                </a:solidFill>
              </a:defRPr>
            </a:pPr>
            <a:r>
              <a:t>The Four Critical Failures in Modern Healthcare Delivery</a:t>
            </a:r>
          </a:p>
        </p:txBody>
      </p:sp>
      <p:sp>
        <p:nvSpPr>
          <p:cNvPr id="5" name="TextBox 4"/>
          <p:cNvSpPr txBox="1"/>
          <p:nvPr/>
        </p:nvSpPr>
        <p:spPr>
          <a:xfrm>
            <a:off x="731520" y="1234440"/>
            <a:ext cx="10515600" cy="365760"/>
          </a:xfrm>
          <a:prstGeom prst="rect">
            <a:avLst/>
          </a:prstGeom>
          <a:noFill/>
        </p:spPr>
        <p:txBody>
          <a:bodyPr wrap="square" lIns="0" tIns="0" rIns="0" bIns="0">
            <a:spAutoFit/>
          </a:bodyPr>
          <a:lstStyle/>
          <a:p>
            <a:pPr>
              <a:defRPr sz="1150">
                <a:solidFill>
                  <a:srgbClr val="64748B"/>
                </a:solidFill>
              </a:defRPr>
            </a:pPr>
            <a:r>
              <a:t>Empirical operational friction observed across metropolitan hospitals and telehealth providers.</a:t>
            </a:r>
          </a:p>
        </p:txBody>
      </p:sp>
      <p:sp>
        <p:nvSpPr>
          <p:cNvPr id="6" name="Rounded Rectangle 5"/>
          <p:cNvSpPr/>
          <p:nvPr/>
        </p:nvSpPr>
        <p:spPr>
          <a:xfrm>
            <a:off x="731520" y="1737360"/>
            <a:ext cx="5257800" cy="2057400"/>
          </a:xfrm>
          <a:prstGeom prst="roundRect">
            <a:avLst/>
          </a:prstGeom>
          <a:solidFill>
            <a:srgbClr val="F8FAFC"/>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20240"/>
            <a:ext cx="4800600" cy="1691640"/>
          </a:xfrm>
          <a:prstGeom prst="rect">
            <a:avLst/>
          </a:prstGeom>
          <a:noFill/>
        </p:spPr>
        <p:txBody>
          <a:bodyPr wrap="square">
            <a:spAutoFit/>
          </a:bodyPr>
          <a:lstStyle/>
          <a:p>
            <a:pPr>
              <a:spcAft>
                <a:spcPts val="800"/>
              </a:spcAft>
              <a:defRPr sz="1300" b="1">
                <a:solidFill>
                  <a:srgbClr val="D97706"/>
                </a:solidFill>
              </a:defRPr>
            </a:pPr>
            <a:r>
              <a:t>1. Patient Misrouting &amp; Triage Congestion</a:t>
            </a:r>
          </a:p>
          <a:p>
            <a:pPr>
              <a:defRPr sz="1050">
                <a:solidFill>
                  <a:srgbClr val="1E293B"/>
                </a:solidFill>
              </a:defRPr>
            </a:pPr>
            <a:r>
              <a:t>Up to 38% of patients register for the incorrect clinical department (e.g., tension headaches crowding Neurology or acid reflux clogging Cardiology). This wastes specialist hours and delays critical emergency care.</a:t>
            </a:r>
          </a:p>
        </p:txBody>
      </p:sp>
      <p:sp>
        <p:nvSpPr>
          <p:cNvPr id="8" name="Rounded Rectangle 7"/>
          <p:cNvSpPr/>
          <p:nvPr/>
        </p:nvSpPr>
        <p:spPr>
          <a:xfrm>
            <a:off x="6172200" y="1737360"/>
            <a:ext cx="5257800" cy="2057400"/>
          </a:xfrm>
          <a:prstGeom prst="roundRect">
            <a:avLst/>
          </a:prstGeom>
          <a:solidFill>
            <a:srgbClr val="F8FAFC"/>
          </a:solidFill>
          <a:ln w="1270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920240"/>
            <a:ext cx="4800600" cy="1691640"/>
          </a:xfrm>
          <a:prstGeom prst="rect">
            <a:avLst/>
          </a:prstGeom>
          <a:noFill/>
        </p:spPr>
        <p:txBody>
          <a:bodyPr wrap="square">
            <a:spAutoFit/>
          </a:bodyPr>
          <a:lstStyle/>
          <a:p>
            <a:pPr>
              <a:spcAft>
                <a:spcPts val="800"/>
              </a:spcAft>
              <a:defRPr sz="1300" b="1">
                <a:solidFill>
                  <a:srgbClr val="E11D48"/>
                </a:solidFill>
              </a:defRPr>
            </a:pPr>
            <a:r>
              <a:t>2. Rigid Booking &amp; Waiting Room Friction</a:t>
            </a:r>
          </a:p>
          <a:p>
            <a:pPr>
              <a:defRPr sz="1050">
                <a:solidFill>
                  <a:srgbClr val="1E293B"/>
                </a:solidFill>
              </a:defRPr>
            </a:pPr>
            <a:r>
              <a:t>Static time-slots ignore consultation variances. A complex patient taking 25 minutes instead of 10 creates a cascading backlog. Waiting rooms become overcrowded, escalating cross-infection risks and patient hostility.</a:t>
            </a:r>
          </a:p>
        </p:txBody>
      </p:sp>
      <p:sp>
        <p:nvSpPr>
          <p:cNvPr id="10" name="Rounded Rectangle 9"/>
          <p:cNvSpPr/>
          <p:nvPr/>
        </p:nvSpPr>
        <p:spPr>
          <a:xfrm>
            <a:off x="731520" y="4023360"/>
            <a:ext cx="5257800" cy="2057400"/>
          </a:xfrm>
          <a:prstGeom prst="roundRect">
            <a:avLst/>
          </a:prstGeom>
          <a:solidFill>
            <a:srgbClr val="F8FAFC"/>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4206240"/>
            <a:ext cx="4800600" cy="1691640"/>
          </a:xfrm>
          <a:prstGeom prst="rect">
            <a:avLst/>
          </a:prstGeom>
          <a:noFill/>
        </p:spPr>
        <p:txBody>
          <a:bodyPr wrap="square">
            <a:spAutoFit/>
          </a:bodyPr>
          <a:lstStyle/>
          <a:p>
            <a:pPr>
              <a:spcAft>
                <a:spcPts val="800"/>
              </a:spcAft>
              <a:defRPr sz="1300" b="1">
                <a:solidFill>
                  <a:srgbClr val="06B6D4"/>
                </a:solidFill>
              </a:defRPr>
            </a:pPr>
            <a:r>
              <a:t>3. Fragmented Telemedicine Infrastructure</a:t>
            </a:r>
          </a:p>
          <a:p>
            <a:pPr>
              <a:defRPr sz="1050">
                <a:solidFill>
                  <a:srgbClr val="1E293B"/>
                </a:solidFill>
              </a:defRPr>
            </a:pPr>
            <a:r>
              <a:t>Most clinics patch together Zoom, WhatsApp, and email attachments. Doctors must switch between video windows and EHR software, resulting in unrecorded clinical notes and insecure prescription delivery.</a:t>
            </a:r>
          </a:p>
        </p:txBody>
      </p:sp>
      <p:sp>
        <p:nvSpPr>
          <p:cNvPr id="12" name="Rounded Rectangle 11"/>
          <p:cNvSpPr/>
          <p:nvPr/>
        </p:nvSpPr>
        <p:spPr>
          <a:xfrm>
            <a:off x="6172200" y="4023360"/>
            <a:ext cx="5257800" cy="2057400"/>
          </a:xfrm>
          <a:prstGeom prst="roundRect">
            <a:avLst/>
          </a:prstGeom>
          <a:solidFill>
            <a:srgbClr val="F8FAFC"/>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4206240"/>
            <a:ext cx="4800600" cy="1691640"/>
          </a:xfrm>
          <a:prstGeom prst="rect">
            <a:avLst/>
          </a:prstGeom>
          <a:noFill/>
        </p:spPr>
        <p:txBody>
          <a:bodyPr wrap="square">
            <a:spAutoFit/>
          </a:bodyPr>
          <a:lstStyle/>
          <a:p>
            <a:pPr>
              <a:spcAft>
                <a:spcPts val="800"/>
              </a:spcAft>
              <a:defRPr sz="1300" b="1">
                <a:solidFill>
                  <a:srgbClr val="0284C7"/>
                </a:solidFill>
              </a:defRPr>
            </a:pPr>
            <a:r>
              <a:t>4. Blind Hospital Staffing &amp; Resource Inefficiencies</a:t>
            </a:r>
          </a:p>
          <a:p>
            <a:pPr>
              <a:defRPr sz="1050">
                <a:solidFill>
                  <a:srgbClr val="1E293B"/>
                </a:solidFill>
              </a:defRPr>
            </a:pPr>
            <a:r>
              <a:t>Chief Medical Officers have no predictive foresight. Roster allocations are based on static spreadsheets. Post-holiday surges overwhelm emergency rooms, while other shifts remain overstaffed and underutilized.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1000" b="1">
                <a:solidFill>
                  <a:srgbClr val="0D9488"/>
                </a:solidFill>
              </a:defRPr>
            </a:pPr>
            <a:r>
              <a:t>SYSTEM DESIGN</a:t>
            </a:r>
          </a:p>
        </p:txBody>
      </p:sp>
      <p:sp>
        <p:nvSpPr>
          <p:cNvPr id="4" name="TextBox 3"/>
          <p:cNvSpPr txBox="1"/>
          <p:nvPr/>
        </p:nvSpPr>
        <p:spPr>
          <a:xfrm>
            <a:off x="731520" y="658368"/>
            <a:ext cx="10515600" cy="548640"/>
          </a:xfrm>
          <a:prstGeom prst="rect">
            <a:avLst/>
          </a:prstGeom>
          <a:noFill/>
        </p:spPr>
        <p:txBody>
          <a:bodyPr wrap="square" lIns="0" tIns="0" rIns="0" bIns="0">
            <a:spAutoFit/>
          </a:bodyPr>
          <a:lstStyle/>
          <a:p>
            <a:pPr>
              <a:defRPr sz="2200" b="1">
                <a:solidFill>
                  <a:srgbClr val="0F172A"/>
                </a:solidFill>
              </a:defRPr>
            </a:pPr>
            <a:r>
              <a:t>Tri-Role Architectural Model &amp; User Journey</a:t>
            </a:r>
          </a:p>
        </p:txBody>
      </p:sp>
      <p:sp>
        <p:nvSpPr>
          <p:cNvPr id="5" name="TextBox 4"/>
          <p:cNvSpPr txBox="1"/>
          <p:nvPr/>
        </p:nvSpPr>
        <p:spPr>
          <a:xfrm>
            <a:off x="731520" y="1234440"/>
            <a:ext cx="10515600" cy="365760"/>
          </a:xfrm>
          <a:prstGeom prst="rect">
            <a:avLst/>
          </a:prstGeom>
          <a:noFill/>
        </p:spPr>
        <p:txBody>
          <a:bodyPr wrap="square" lIns="0" tIns="0" rIns="0" bIns="0">
            <a:spAutoFit/>
          </a:bodyPr>
          <a:lstStyle/>
          <a:p>
            <a:pPr>
              <a:defRPr sz="1150">
                <a:solidFill>
                  <a:srgbClr val="64748B"/>
                </a:solidFill>
              </a:defRPr>
            </a:pPr>
            <a:r>
              <a:t>Role-based encapsulation ensuring dedicated, frictionless experiences for every healthcare stakeholder.</a:t>
            </a:r>
          </a:p>
        </p:txBody>
      </p:sp>
      <p:sp>
        <p:nvSpPr>
          <p:cNvPr id="6" name="Rounded Rectangle 5"/>
          <p:cNvSpPr/>
          <p:nvPr/>
        </p:nvSpPr>
        <p:spPr>
          <a:xfrm>
            <a:off x="731520" y="1737360"/>
            <a:ext cx="3474720" cy="4480560"/>
          </a:xfrm>
          <a:prstGeom prst="roundRect">
            <a:avLst/>
          </a:prstGeom>
          <a:solidFill>
            <a:srgbClr val="F8FAFC"/>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3108960" cy="4114800"/>
          </a:xfrm>
          <a:prstGeom prst="rect">
            <a:avLst/>
          </a:prstGeom>
          <a:noFill/>
        </p:spPr>
        <p:txBody>
          <a:bodyPr wrap="square">
            <a:spAutoFit/>
          </a:bodyPr>
          <a:lstStyle/>
          <a:p>
            <a:pPr>
              <a:defRPr sz="1400" b="1">
                <a:solidFill>
                  <a:srgbClr val="0D9488"/>
                </a:solidFill>
              </a:defRPr>
            </a:pPr>
            <a:r>
              <a:t>Patient Persona</a:t>
            </a:r>
          </a:p>
          <a:p>
            <a:pPr>
              <a:spcAft>
                <a:spcPts val="1200"/>
              </a:spcAft>
              <a:defRPr sz="1000" b="1">
                <a:solidFill>
                  <a:srgbClr val="64748B"/>
                </a:solidFill>
              </a:defRPr>
            </a:pPr>
            <a:r>
              <a:t>Empowered, Informed Care</a:t>
            </a:r>
          </a:p>
          <a:p>
            <a:pPr>
              <a:spcAft>
                <a:spcPts val="800"/>
              </a:spcAft>
              <a:defRPr sz="1050">
                <a:solidFill>
                  <a:srgbClr val="1E293B"/>
                </a:solidFill>
              </a:defRPr>
            </a:pPr>
            <a:r>
              <a:t>✔  AI Symptom Checker with instant specialty match</a:t>
            </a:r>
          </a:p>
          <a:p>
            <a:pPr>
              <a:spcAft>
                <a:spcPts val="800"/>
              </a:spcAft>
              <a:defRPr sz="1050">
                <a:solidFill>
                  <a:srgbClr val="1E293B"/>
                </a:solidFill>
              </a:defRPr>
            </a:pPr>
            <a:r>
              <a:t>✔  Dual-mode booking: In-Hospital or Online Video</a:t>
            </a:r>
          </a:p>
          <a:p>
            <a:pPr>
              <a:spcAft>
                <a:spcPts val="800"/>
              </a:spcAft>
              <a:defRPr sz="1050">
                <a:solidFill>
                  <a:srgbClr val="1E293B"/>
                </a:solidFill>
              </a:defRPr>
            </a:pPr>
            <a:r>
              <a:t>✔  Instant slot reservation with UPI / Card checkout</a:t>
            </a:r>
          </a:p>
          <a:p>
            <a:pPr>
              <a:spcAft>
                <a:spcPts val="800"/>
              </a:spcAft>
              <a:defRPr sz="1050">
                <a:solidFill>
                  <a:srgbClr val="1E293B"/>
                </a:solidFill>
              </a:defRPr>
            </a:pPr>
            <a:r>
              <a:t>✔  Real-time live queue tracking from mobile browser</a:t>
            </a:r>
          </a:p>
          <a:p>
            <a:pPr>
              <a:spcAft>
                <a:spcPts val="800"/>
              </a:spcAft>
              <a:defRPr sz="1050">
                <a:solidFill>
                  <a:srgbClr val="1E293B"/>
                </a:solidFill>
              </a:defRPr>
            </a:pPr>
            <a:r>
              <a:t>✔  Digital medical records vault &amp; dosage reminders</a:t>
            </a:r>
          </a:p>
        </p:txBody>
      </p:sp>
      <p:sp>
        <p:nvSpPr>
          <p:cNvPr id="8" name="Rounded Rectangle 7"/>
          <p:cNvSpPr/>
          <p:nvPr/>
        </p:nvSpPr>
        <p:spPr>
          <a:xfrm>
            <a:off x="4343400" y="1737360"/>
            <a:ext cx="3474720" cy="4480560"/>
          </a:xfrm>
          <a:prstGeom prst="roundRect">
            <a:avLst/>
          </a:prstGeom>
          <a:solidFill>
            <a:srgbClr val="F8FAFC"/>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1920240"/>
            <a:ext cx="3108960" cy="4114800"/>
          </a:xfrm>
          <a:prstGeom prst="rect">
            <a:avLst/>
          </a:prstGeom>
          <a:noFill/>
        </p:spPr>
        <p:txBody>
          <a:bodyPr wrap="square">
            <a:spAutoFit/>
          </a:bodyPr>
          <a:lstStyle/>
          <a:p>
            <a:pPr>
              <a:defRPr sz="1400" b="1">
                <a:solidFill>
                  <a:srgbClr val="0284C7"/>
                </a:solidFill>
              </a:defRPr>
            </a:pPr>
            <a:r>
              <a:t>Doctor Persona</a:t>
            </a:r>
          </a:p>
          <a:p>
            <a:pPr>
              <a:spcAft>
                <a:spcPts val="1200"/>
              </a:spcAft>
              <a:defRPr sz="1000" b="1">
                <a:solidFill>
                  <a:srgbClr val="64748B"/>
                </a:solidFill>
              </a:defRPr>
            </a:pPr>
            <a:r>
              <a:t>Streamlined Clinical Workflow</a:t>
            </a:r>
          </a:p>
          <a:p>
            <a:pPr>
              <a:spcAft>
                <a:spcPts val="800"/>
              </a:spcAft>
              <a:defRPr sz="1050">
                <a:solidFill>
                  <a:srgbClr val="1E293B"/>
                </a:solidFill>
              </a:defRPr>
            </a:pPr>
            <a:r>
              <a:t>✔  Single-pane OPD Queue Desk with call controls</a:t>
            </a:r>
          </a:p>
          <a:p>
            <a:pPr>
              <a:spcAft>
                <a:spcPts val="800"/>
              </a:spcAft>
              <a:defRPr sz="1050">
                <a:solidFill>
                  <a:srgbClr val="1E293B"/>
                </a:solidFill>
              </a:defRPr>
            </a:pPr>
            <a:r>
              <a:t>✔  1-Click WebRTC HD video consultation suite</a:t>
            </a:r>
          </a:p>
          <a:p>
            <a:pPr>
              <a:spcAft>
                <a:spcPts val="800"/>
              </a:spcAft>
              <a:defRPr sz="1050">
                <a:solidFill>
                  <a:srgbClr val="1E293B"/>
                </a:solidFill>
              </a:defRPr>
            </a:pPr>
            <a:r>
              <a:t>✔  In-call live clinical notes pad (auto-saved)</a:t>
            </a:r>
          </a:p>
          <a:p>
            <a:pPr>
              <a:spcAft>
                <a:spcPts val="800"/>
              </a:spcAft>
              <a:defRPr sz="1050">
                <a:solidFill>
                  <a:srgbClr val="1E293B"/>
                </a:solidFill>
              </a:defRPr>
            </a:pPr>
            <a:r>
              <a:t>✔  Dosage-timed Prescription builder with signature</a:t>
            </a:r>
          </a:p>
          <a:p>
            <a:pPr>
              <a:spcAft>
                <a:spcPts val="800"/>
              </a:spcAft>
              <a:defRPr sz="1050">
                <a:solidFill>
                  <a:srgbClr val="1E293B"/>
                </a:solidFill>
              </a:defRPr>
            </a:pPr>
            <a:r>
              <a:t>✔  Access to verified patient uploaded lab reports</a:t>
            </a:r>
          </a:p>
        </p:txBody>
      </p:sp>
      <p:sp>
        <p:nvSpPr>
          <p:cNvPr id="10" name="Rounded Rectangle 9"/>
          <p:cNvSpPr/>
          <p:nvPr/>
        </p:nvSpPr>
        <p:spPr>
          <a:xfrm>
            <a:off x="7955280" y="1737360"/>
            <a:ext cx="3474720" cy="4480560"/>
          </a:xfrm>
          <a:prstGeom prst="roundRect">
            <a:avLst/>
          </a:prstGeom>
          <a:solidFill>
            <a:srgbClr val="F8FAFC"/>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38160" y="1920240"/>
            <a:ext cx="3108960" cy="4114800"/>
          </a:xfrm>
          <a:prstGeom prst="rect">
            <a:avLst/>
          </a:prstGeom>
          <a:noFill/>
        </p:spPr>
        <p:txBody>
          <a:bodyPr wrap="square">
            <a:spAutoFit/>
          </a:bodyPr>
          <a:lstStyle/>
          <a:p>
            <a:pPr>
              <a:defRPr sz="1400" b="1">
                <a:solidFill>
                  <a:srgbClr val="0F172A"/>
                </a:solidFill>
              </a:defRPr>
            </a:pPr>
            <a:r>
              <a:t>Administrator Persona</a:t>
            </a:r>
          </a:p>
          <a:p>
            <a:pPr>
              <a:spcAft>
                <a:spcPts val="1200"/>
              </a:spcAft>
              <a:defRPr sz="1000" b="1">
                <a:solidFill>
                  <a:srgbClr val="64748B"/>
                </a:solidFill>
              </a:defRPr>
            </a:pPr>
            <a:r>
              <a:t>Executive Hospital Governance</a:t>
            </a:r>
          </a:p>
          <a:p>
            <a:pPr>
              <a:spcAft>
                <a:spcPts val="800"/>
              </a:spcAft>
              <a:defRPr sz="1050">
                <a:solidFill>
                  <a:srgbClr val="1E293B"/>
                </a:solidFill>
              </a:defRPr>
            </a:pPr>
            <a:r>
              <a:t>✔  Scikit-learn Next-Day OPD Inflow Forecasting</a:t>
            </a:r>
          </a:p>
          <a:p>
            <a:pPr>
              <a:spcAft>
                <a:spcPts val="800"/>
              </a:spcAft>
              <a:defRPr sz="1050">
                <a:solidFill>
                  <a:srgbClr val="1E293B"/>
                </a:solidFill>
              </a:defRPr>
            </a:pPr>
            <a:r>
              <a:t>✔  Automated Doctor Roster Allocation engine</a:t>
            </a:r>
          </a:p>
          <a:p>
            <a:pPr>
              <a:spcAft>
                <a:spcPts val="800"/>
              </a:spcAft>
              <a:defRPr sz="1050">
                <a:solidFill>
                  <a:srgbClr val="1E293B"/>
                </a:solidFill>
              </a:defRPr>
            </a:pPr>
            <a:r>
              <a:t>✔  Consultation Conversion Funnel &amp; Cancellation KPIs</a:t>
            </a:r>
          </a:p>
          <a:p>
            <a:pPr>
              <a:spcAft>
                <a:spcPts val="800"/>
              </a:spcAft>
              <a:defRPr sz="1050">
                <a:solidFill>
                  <a:srgbClr val="1E293B"/>
                </a:solidFill>
              </a:defRPr>
            </a:pPr>
            <a:r>
              <a:t>✔  Cross-departmental case volumes &amp; settled revenue</a:t>
            </a:r>
          </a:p>
          <a:p>
            <a:pPr>
              <a:spcAft>
                <a:spcPts val="800"/>
              </a:spcAft>
              <a:defRPr sz="1050">
                <a:solidFill>
                  <a:srgbClr val="1E293B"/>
                </a:solidFill>
              </a:defRPr>
            </a:pPr>
            <a:r>
              <a:t>✔  Doctor caseloads, ratings, and staffing actions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1000" b="1">
                <a:solidFill>
                  <a:srgbClr val="0D9488"/>
                </a:solidFill>
              </a:defRPr>
            </a:pPr>
            <a:r>
              <a:t>ENGINEERING FOUNDATION</a:t>
            </a:r>
          </a:p>
        </p:txBody>
      </p:sp>
      <p:sp>
        <p:nvSpPr>
          <p:cNvPr id="4" name="TextBox 3"/>
          <p:cNvSpPr txBox="1"/>
          <p:nvPr/>
        </p:nvSpPr>
        <p:spPr>
          <a:xfrm>
            <a:off x="731520" y="658368"/>
            <a:ext cx="10515600" cy="548640"/>
          </a:xfrm>
          <a:prstGeom prst="rect">
            <a:avLst/>
          </a:prstGeom>
          <a:noFill/>
        </p:spPr>
        <p:txBody>
          <a:bodyPr wrap="square" lIns="0" tIns="0" rIns="0" bIns="0">
            <a:spAutoFit/>
          </a:bodyPr>
          <a:lstStyle/>
          <a:p>
            <a:pPr>
              <a:defRPr sz="2200" b="1">
                <a:solidFill>
                  <a:srgbClr val="0F172A"/>
                </a:solidFill>
              </a:defRPr>
            </a:pPr>
            <a:r>
              <a:t>Enterprise Full-Stack Technology Stack</a:t>
            </a:r>
          </a:p>
        </p:txBody>
      </p:sp>
      <p:sp>
        <p:nvSpPr>
          <p:cNvPr id="5" name="TextBox 4"/>
          <p:cNvSpPr txBox="1"/>
          <p:nvPr/>
        </p:nvSpPr>
        <p:spPr>
          <a:xfrm>
            <a:off x="731520" y="1234440"/>
            <a:ext cx="10515600" cy="365760"/>
          </a:xfrm>
          <a:prstGeom prst="rect">
            <a:avLst/>
          </a:prstGeom>
          <a:noFill/>
        </p:spPr>
        <p:txBody>
          <a:bodyPr wrap="square" lIns="0" tIns="0" rIns="0" bIns="0">
            <a:spAutoFit/>
          </a:bodyPr>
          <a:lstStyle/>
          <a:p>
            <a:pPr>
              <a:defRPr sz="1150">
                <a:solidFill>
                  <a:srgbClr val="64748B"/>
                </a:solidFill>
              </a:defRPr>
            </a:pPr>
            <a:r>
              <a:t>Carefully selected, high-performance, open-standard components engineered for reliability.</a:t>
            </a:r>
          </a:p>
        </p:txBody>
      </p:sp>
      <p:sp>
        <p:nvSpPr>
          <p:cNvPr id="6" name="Rounded Rectangle 5"/>
          <p:cNvSpPr/>
          <p:nvPr/>
        </p:nvSpPr>
        <p:spPr>
          <a:xfrm>
            <a:off x="731520" y="1737360"/>
            <a:ext cx="3474720" cy="4480560"/>
          </a:xfrm>
          <a:prstGeom prst="roundRect">
            <a:avLst/>
          </a:prstGeom>
          <a:solidFill>
            <a:srgbClr val="F8FAFC"/>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3108960" cy="4114800"/>
          </a:xfrm>
          <a:prstGeom prst="rect">
            <a:avLst/>
          </a:prstGeom>
          <a:noFill/>
        </p:spPr>
        <p:txBody>
          <a:bodyPr wrap="square">
            <a:spAutoFit/>
          </a:bodyPr>
          <a:lstStyle/>
          <a:p>
            <a:pPr>
              <a:spcAft>
                <a:spcPts val="1200"/>
              </a:spcAft>
              <a:defRPr sz="1400" b="1">
                <a:solidFill>
                  <a:srgbClr val="06B6D4"/>
                </a:solidFill>
              </a:defRPr>
            </a:pPr>
            <a:r>
              <a:t>Frontend Layer</a:t>
            </a:r>
          </a:p>
          <a:p>
            <a:pPr>
              <a:defRPr sz="1100" b="1">
                <a:solidFill>
                  <a:srgbClr val="0F172A"/>
                </a:solidFill>
              </a:defRPr>
            </a:pPr>
            <a:r>
              <a:t>HTML5 &amp; Modern CSS3</a:t>
            </a:r>
          </a:p>
          <a:p>
            <a:pPr>
              <a:spcAft>
                <a:spcPts val="800"/>
              </a:spcAft>
              <a:defRPr sz="950">
                <a:solidFill>
                  <a:srgbClr val="64748B"/>
                </a:solidFill>
              </a:defRPr>
            </a:pPr>
            <a:r>
              <a:t>Custom Glassmorphism theme, dark/light mode controller</a:t>
            </a:r>
          </a:p>
          <a:p>
            <a:pPr>
              <a:defRPr sz="1100" b="1">
                <a:solidFill>
                  <a:srgbClr val="0F172A"/>
                </a:solidFill>
              </a:defRPr>
            </a:pPr>
            <a:r>
              <a:t>Bootstrap 5.3</a:t>
            </a:r>
          </a:p>
          <a:p>
            <a:pPr>
              <a:spcAft>
                <a:spcPts val="800"/>
              </a:spcAft>
              <a:defRPr sz="950">
                <a:solidFill>
                  <a:srgbClr val="64748B"/>
                </a:solidFill>
              </a:defRPr>
            </a:pPr>
            <a:r>
              <a:t>Fully responsive grid across mobile, tablet, and widescreen</a:t>
            </a:r>
          </a:p>
          <a:p>
            <a:pPr>
              <a:defRPr sz="1100" b="1">
                <a:solidFill>
                  <a:srgbClr val="0F172A"/>
                </a:solidFill>
              </a:defRPr>
            </a:pPr>
            <a:r>
              <a:t>JavaScript (ES6) &amp; AJAX</a:t>
            </a:r>
          </a:p>
          <a:p>
            <a:pPr>
              <a:spcAft>
                <a:spcPts val="800"/>
              </a:spcAft>
              <a:defRPr sz="950">
                <a:solidFill>
                  <a:srgbClr val="64748B"/>
                </a:solidFill>
              </a:defRPr>
            </a:pPr>
            <a:r>
              <a:t>Asynchronous API polling, smooth transitions, toast alerts</a:t>
            </a:r>
          </a:p>
          <a:p>
            <a:pPr>
              <a:defRPr sz="1100" b="1">
                <a:solidFill>
                  <a:srgbClr val="0F172A"/>
                </a:solidFill>
              </a:defRPr>
            </a:pPr>
            <a:r>
              <a:t>Chart.js Visualizations</a:t>
            </a:r>
          </a:p>
          <a:p>
            <a:pPr>
              <a:spcAft>
                <a:spcPts val="800"/>
              </a:spcAft>
              <a:defRPr sz="950">
                <a:solidFill>
                  <a:srgbClr val="64748B"/>
                </a:solidFill>
              </a:defRPr>
            </a:pPr>
            <a:r>
              <a:t>Interactive Line, Doughnut, Bar, and Area charts</a:t>
            </a:r>
          </a:p>
        </p:txBody>
      </p:sp>
      <p:sp>
        <p:nvSpPr>
          <p:cNvPr id="8" name="Rounded Rectangle 7"/>
          <p:cNvSpPr/>
          <p:nvPr/>
        </p:nvSpPr>
        <p:spPr>
          <a:xfrm>
            <a:off x="4343400" y="1737360"/>
            <a:ext cx="3474720" cy="4480560"/>
          </a:xfrm>
          <a:prstGeom prst="roundRect">
            <a:avLst/>
          </a:prstGeom>
          <a:solidFill>
            <a:srgbClr val="F8FAFC"/>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1920240"/>
            <a:ext cx="3108960" cy="4114800"/>
          </a:xfrm>
          <a:prstGeom prst="rect">
            <a:avLst/>
          </a:prstGeom>
          <a:noFill/>
        </p:spPr>
        <p:txBody>
          <a:bodyPr wrap="square">
            <a:spAutoFit/>
          </a:bodyPr>
          <a:lstStyle/>
          <a:p>
            <a:pPr>
              <a:spcAft>
                <a:spcPts val="1200"/>
              </a:spcAft>
              <a:defRPr sz="1400" b="1">
                <a:solidFill>
                  <a:srgbClr val="0D9488"/>
                </a:solidFill>
              </a:defRPr>
            </a:pPr>
            <a:r>
              <a:t>Backend &amp; Database</a:t>
            </a:r>
          </a:p>
          <a:p>
            <a:pPr>
              <a:defRPr sz="1100" b="1">
                <a:solidFill>
                  <a:srgbClr val="0F172A"/>
                </a:solidFill>
              </a:defRPr>
            </a:pPr>
            <a:r>
              <a:t>PHP 8 (MVC Architecture)</a:t>
            </a:r>
          </a:p>
          <a:p>
            <a:pPr>
              <a:spcAft>
                <a:spcPts val="800"/>
              </a:spcAft>
              <a:defRPr sz="950">
                <a:solidFill>
                  <a:srgbClr val="64748B"/>
                </a:solidFill>
              </a:defRPr>
            </a:pPr>
            <a:r>
              <a:t>Strict typing, OOP Singleton database wrapper, RBAC guards</a:t>
            </a:r>
          </a:p>
          <a:p>
            <a:pPr>
              <a:defRPr sz="1100" b="1">
                <a:solidFill>
                  <a:srgbClr val="0F172A"/>
                </a:solidFill>
              </a:defRPr>
            </a:pPr>
            <a:r>
              <a:t>MySQL 8 / MariaDB (3NF)</a:t>
            </a:r>
          </a:p>
          <a:p>
            <a:pPr>
              <a:spcAft>
                <a:spcPts val="800"/>
              </a:spcAft>
              <a:defRPr sz="950">
                <a:solidFill>
                  <a:srgbClr val="64748B"/>
                </a:solidFill>
              </a:defRPr>
            </a:pPr>
            <a:r>
              <a:t>12 relational tables, foreign key constraints, ACID compliance</a:t>
            </a:r>
          </a:p>
          <a:p>
            <a:pPr>
              <a:defRPr sz="1100" b="1">
                <a:solidFill>
                  <a:srgbClr val="0F172A"/>
                </a:solidFill>
              </a:defRPr>
            </a:pPr>
            <a:r>
              <a:t>Concurrency Control</a:t>
            </a:r>
          </a:p>
          <a:p>
            <a:pPr>
              <a:spcAft>
                <a:spcPts val="800"/>
              </a:spcAft>
              <a:defRPr sz="950">
                <a:solidFill>
                  <a:srgbClr val="64748B"/>
                </a:solidFill>
              </a:defRPr>
            </a:pPr>
            <a:r>
              <a:t>SELECT ... FOR UPDATE transactional locking on appointments</a:t>
            </a:r>
          </a:p>
          <a:p>
            <a:pPr>
              <a:defRPr sz="1100" b="1">
                <a:solidFill>
                  <a:srgbClr val="0F172A"/>
                </a:solidFill>
              </a:defRPr>
            </a:pPr>
            <a:r>
              <a:t>RESTful JSON APIs</a:t>
            </a:r>
          </a:p>
          <a:p>
            <a:pPr>
              <a:spcAft>
                <a:spcPts val="800"/>
              </a:spcAft>
              <a:defRPr sz="950">
                <a:solidFill>
                  <a:srgbClr val="64748B"/>
                </a:solidFill>
              </a:defRPr>
            </a:pPr>
            <a:r>
              <a:t>Unified error handling, CSRF verification, rate limiting</a:t>
            </a:r>
          </a:p>
        </p:txBody>
      </p:sp>
      <p:sp>
        <p:nvSpPr>
          <p:cNvPr id="10" name="Rounded Rectangle 9"/>
          <p:cNvSpPr/>
          <p:nvPr/>
        </p:nvSpPr>
        <p:spPr>
          <a:xfrm>
            <a:off x="7955280" y="1737360"/>
            <a:ext cx="3474720" cy="4480560"/>
          </a:xfrm>
          <a:prstGeom prst="roundRect">
            <a:avLst/>
          </a:prstGeom>
          <a:solidFill>
            <a:srgbClr val="F8FAFC"/>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38160" y="1920240"/>
            <a:ext cx="3108960" cy="4114800"/>
          </a:xfrm>
          <a:prstGeom prst="rect">
            <a:avLst/>
          </a:prstGeom>
          <a:noFill/>
        </p:spPr>
        <p:txBody>
          <a:bodyPr wrap="square">
            <a:spAutoFit/>
          </a:bodyPr>
          <a:lstStyle/>
          <a:p>
            <a:pPr>
              <a:spcAft>
                <a:spcPts val="1200"/>
              </a:spcAft>
              <a:defRPr sz="1400" b="1">
                <a:solidFill>
                  <a:srgbClr val="0284C7"/>
                </a:solidFill>
              </a:defRPr>
            </a:pPr>
            <a:r>
              <a:t>Artificial Intelligence &amp; Media</a:t>
            </a:r>
          </a:p>
          <a:p>
            <a:pPr>
              <a:defRPr sz="1100" b="1">
                <a:solidFill>
                  <a:srgbClr val="0F172A"/>
                </a:solidFill>
              </a:defRPr>
            </a:pPr>
            <a:r>
              <a:t>Python 3 &amp; Scikit-learn</a:t>
            </a:r>
          </a:p>
          <a:p>
            <a:pPr>
              <a:spcAft>
                <a:spcPts val="800"/>
              </a:spcAft>
              <a:defRPr sz="950">
                <a:solidFill>
                  <a:srgbClr val="64748B"/>
                </a:solidFill>
              </a:defRPr>
            </a:pPr>
            <a:r>
              <a:t>TF-IDF + Calibrated Classifier for Clinical NLP Triage</a:t>
            </a:r>
          </a:p>
          <a:p>
            <a:pPr>
              <a:defRPr sz="1100" b="1">
                <a:solidFill>
                  <a:srgbClr val="0F172A"/>
                </a:solidFill>
              </a:defRPr>
            </a:pPr>
            <a:r>
              <a:t>Random Forest Regressor</a:t>
            </a:r>
          </a:p>
          <a:p>
            <a:pPr>
              <a:spcAft>
                <a:spcPts val="800"/>
              </a:spcAft>
              <a:defRPr sz="950">
                <a:solidFill>
                  <a:srgbClr val="64748B"/>
                </a:solidFill>
              </a:defRPr>
            </a:pPr>
            <a:r>
              <a:t>120 estimators trained on 365 operational records (R² = 0.927)</a:t>
            </a:r>
          </a:p>
          <a:p>
            <a:pPr>
              <a:defRPr sz="1100" b="1">
                <a:solidFill>
                  <a:srgbClr val="0F172A"/>
                </a:solidFill>
              </a:defRPr>
            </a:pPr>
            <a:r>
              <a:t>WebRTC Peer Connection</a:t>
            </a:r>
          </a:p>
          <a:p>
            <a:pPr>
              <a:spcAft>
                <a:spcPts val="800"/>
              </a:spcAft>
              <a:defRPr sz="950">
                <a:solidFill>
                  <a:srgbClr val="64748B"/>
                </a:solidFill>
              </a:defRPr>
            </a:pPr>
            <a:r>
              <a:t>Zero-plugin browser video/audio streaming with screen sharing</a:t>
            </a:r>
          </a:p>
          <a:p>
            <a:pPr>
              <a:defRPr sz="1100" b="1">
                <a:solidFill>
                  <a:srgbClr val="0F172A"/>
                </a:solidFill>
              </a:defRPr>
            </a:pPr>
            <a:r>
              <a:t>File Security Engine</a:t>
            </a:r>
          </a:p>
          <a:p>
            <a:pPr>
              <a:spcAft>
                <a:spcPts val="800"/>
              </a:spcAft>
              <a:defRPr sz="950">
                <a:solidFill>
                  <a:srgbClr val="64748B"/>
                </a:solidFill>
              </a:defRPr>
            </a:pPr>
            <a:r>
              <a:t>PHP finfo MIME validation with cryptographic hex filenames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1000" b="1">
                <a:solidFill>
                  <a:srgbClr val="0D9488"/>
                </a:solidFill>
              </a:defRPr>
            </a:pPr>
            <a:r>
              <a:t>CLINICAL INTELLIGENCE</a:t>
            </a:r>
          </a:p>
        </p:txBody>
      </p:sp>
      <p:sp>
        <p:nvSpPr>
          <p:cNvPr id="4" name="TextBox 3"/>
          <p:cNvSpPr txBox="1"/>
          <p:nvPr/>
        </p:nvSpPr>
        <p:spPr>
          <a:xfrm>
            <a:off x="731520" y="658368"/>
            <a:ext cx="10515600" cy="548640"/>
          </a:xfrm>
          <a:prstGeom prst="rect">
            <a:avLst/>
          </a:prstGeom>
          <a:noFill/>
        </p:spPr>
        <p:txBody>
          <a:bodyPr wrap="square" lIns="0" tIns="0" rIns="0" bIns="0">
            <a:spAutoFit/>
          </a:bodyPr>
          <a:lstStyle/>
          <a:p>
            <a:pPr>
              <a:defRPr sz="2200" b="1">
                <a:solidFill>
                  <a:srgbClr val="0F172A"/>
                </a:solidFill>
              </a:defRPr>
            </a:pPr>
            <a:r>
              <a:t>Module 1: AI Symptom Checker &amp; Department Routing</a:t>
            </a:r>
          </a:p>
        </p:txBody>
      </p:sp>
      <p:sp>
        <p:nvSpPr>
          <p:cNvPr id="5" name="TextBox 4"/>
          <p:cNvSpPr txBox="1"/>
          <p:nvPr/>
        </p:nvSpPr>
        <p:spPr>
          <a:xfrm>
            <a:off x="731520" y="1234440"/>
            <a:ext cx="10515600" cy="365760"/>
          </a:xfrm>
          <a:prstGeom prst="rect">
            <a:avLst/>
          </a:prstGeom>
          <a:noFill/>
        </p:spPr>
        <p:txBody>
          <a:bodyPr wrap="square" lIns="0" tIns="0" rIns="0" bIns="0">
            <a:spAutoFit/>
          </a:bodyPr>
          <a:lstStyle/>
          <a:p>
            <a:pPr>
              <a:defRPr sz="1150">
                <a:solidFill>
                  <a:srgbClr val="64748B"/>
                </a:solidFill>
              </a:defRPr>
            </a:pPr>
            <a:r>
              <a:t>Translating natural language patient complaints into precise medical department triage.</a:t>
            </a:r>
          </a:p>
        </p:txBody>
      </p:sp>
      <p:sp>
        <p:nvSpPr>
          <p:cNvPr id="6" name="Rounded Rectangle 5"/>
          <p:cNvSpPr/>
          <p:nvPr/>
        </p:nvSpPr>
        <p:spPr>
          <a:xfrm>
            <a:off x="731520" y="1737360"/>
            <a:ext cx="5943600" cy="4480560"/>
          </a:xfrm>
          <a:prstGeom prst="roundRect">
            <a:avLst/>
          </a:prstGeom>
          <a:solidFill>
            <a:srgbClr val="F8FAFC"/>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5577840" cy="4114800"/>
          </a:xfrm>
          <a:prstGeom prst="rect">
            <a:avLst/>
          </a:prstGeom>
          <a:noFill/>
        </p:spPr>
        <p:txBody>
          <a:bodyPr wrap="square">
            <a:spAutoFit/>
          </a:bodyPr>
          <a:lstStyle/>
          <a:p>
            <a:pPr>
              <a:spcAft>
                <a:spcPts val="800"/>
              </a:spcAft>
              <a:defRPr sz="1400" b="1">
                <a:solidFill>
                  <a:srgbClr val="0D9488"/>
                </a:solidFill>
              </a:defRPr>
            </a:pPr>
            <a:r>
              <a:t>Natural Language Processing Pipeline</a:t>
            </a:r>
          </a:p>
          <a:p>
            <a:pPr>
              <a:spcAft>
                <a:spcPts val="600"/>
              </a:spcAft>
              <a:defRPr sz="1050" b="1">
                <a:solidFill>
                  <a:srgbClr val="0F172A"/>
                </a:solidFill>
              </a:defRPr>
            </a:pPr>
            <a:r>
              <a:t>• TF-IDF Vectorization: </a:t>
            </a:r>
            <a:r>
              <a:rPr b="0">
                <a:solidFill>
                  <a:srgbClr val="1E293B"/>
                </a:solidFill>
              </a:rPr>
              <a:t>Tokenizes raw natural language symptoms, eliminating stop-words while emphasizing distinctive clinical n-grams (e.g. 'substernal chest pressure', 'nuchal rigidity').</a:t>
            </a:r>
          </a:p>
          <a:p>
            <a:pPr>
              <a:spcAft>
                <a:spcPts val="600"/>
              </a:spcAft>
              <a:defRPr sz="1050" b="1">
                <a:solidFill>
                  <a:srgbClr val="0F172A"/>
                </a:solidFill>
              </a:defRPr>
            </a:pPr>
            <a:r>
              <a:t>• Calibrated Classifier: </a:t>
            </a:r>
            <a:r>
              <a:rPr b="0">
                <a:solidFill>
                  <a:srgbClr val="1E293B"/>
                </a:solidFill>
              </a:rPr>
              <a:t>Multi-class logistic regression calibrated with Platt scaling to deliver reliable posterior probability distributions across 8 clinical specialties.</a:t>
            </a:r>
          </a:p>
          <a:p>
            <a:pPr>
              <a:spcAft>
                <a:spcPts val="600"/>
              </a:spcAft>
              <a:defRPr sz="1050" b="1">
                <a:solidFill>
                  <a:srgbClr val="0F172A"/>
                </a:solidFill>
              </a:defRPr>
            </a:pPr>
            <a:r>
              <a:t>• Urgency Classification Matrix: </a:t>
            </a:r>
            <a:r>
              <a:rPr b="0">
                <a:solidFill>
                  <a:srgbClr val="1E293B"/>
                </a:solidFill>
              </a:rPr>
              <a:t>Analyzes symptom severity into 4 medical tiers: Low Urgency, Moderate Care, High Urgency, and Critical Emergency.</a:t>
            </a:r>
          </a:p>
          <a:p>
            <a:pPr>
              <a:spcAft>
                <a:spcPts val="600"/>
              </a:spcAft>
              <a:defRPr sz="1050" b="1">
                <a:solidFill>
                  <a:srgbClr val="0F172A"/>
                </a:solidFill>
              </a:defRPr>
            </a:pPr>
            <a:r>
              <a:t>• Smart Specialist Matching: </a:t>
            </a:r>
            <a:r>
              <a:rPr b="0">
                <a:solidFill>
                  <a:srgbClr val="1E293B"/>
                </a:solidFill>
              </a:rPr>
              <a:t>Instantly queries active doctors in the predicted department and surfaces their upcoming available consultation slots for 1-click booking.</a:t>
            </a:r>
          </a:p>
          <a:p>
            <a:pPr>
              <a:spcAft>
                <a:spcPts val="600"/>
              </a:spcAft>
              <a:defRPr sz="1050" b="1">
                <a:solidFill>
                  <a:srgbClr val="0F172A"/>
                </a:solidFill>
              </a:defRPr>
            </a:pPr>
            <a:r>
              <a:t>• Triage Audit Trail: </a:t>
            </a:r>
            <a:r>
              <a:rPr b="0">
                <a:solidFill>
                  <a:srgbClr val="1E293B"/>
                </a:solidFill>
              </a:rPr>
              <a:t>Automatically stores the prediction, confidence level, and patient notes into symptom_history for physician review during consultation.</a:t>
            </a:r>
          </a:p>
        </p:txBody>
      </p:sp>
      <p:sp>
        <p:nvSpPr>
          <p:cNvPr id="8" name="Rounded Rectangle 7"/>
          <p:cNvSpPr/>
          <p:nvPr/>
        </p:nvSpPr>
        <p:spPr>
          <a:xfrm>
            <a:off x="6858000" y="1737360"/>
            <a:ext cx="4572000" cy="4480560"/>
          </a:xfrm>
          <a:prstGeom prst="roundRect">
            <a:avLst/>
          </a:prstGeom>
          <a:solidFill>
            <a:srgbClr val="F0FDFA"/>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86600" y="1920240"/>
            <a:ext cx="4114800" cy="4114800"/>
          </a:xfrm>
          <a:prstGeom prst="rect">
            <a:avLst/>
          </a:prstGeom>
          <a:noFill/>
        </p:spPr>
        <p:txBody>
          <a:bodyPr wrap="square">
            <a:spAutoFit/>
          </a:bodyPr>
          <a:lstStyle/>
          <a:p>
            <a:pPr>
              <a:spcAft>
                <a:spcPts val="1000"/>
              </a:spcAft>
              <a:defRPr sz="1400" b="1">
                <a:solidFill>
                  <a:srgbClr val="0F172A"/>
                </a:solidFill>
              </a:defRPr>
            </a:pPr>
            <a:r>
              <a:t>Live Triage Execution Example</a:t>
            </a:r>
          </a:p>
          <a:p>
            <a:pPr>
              <a:defRPr sz="900" b="1">
                <a:solidFill>
                  <a:srgbClr val="0D9488"/>
                </a:solidFill>
              </a:defRPr>
            </a:pPr>
            <a:r>
              <a:t>PATIENT INPUT</a:t>
            </a:r>
          </a:p>
          <a:p>
            <a:pPr>
              <a:spcAft>
                <a:spcPts val="600"/>
              </a:spcAft>
              <a:defRPr sz="1050" b="0">
                <a:solidFill>
                  <a:srgbClr val="0F172A"/>
                </a:solidFill>
              </a:defRPr>
            </a:pPr>
            <a:r>
              <a:t>'Sudden crushing chest tightness with left arm numbness and cold sweating'</a:t>
            </a:r>
          </a:p>
          <a:p>
            <a:pPr>
              <a:defRPr sz="900" b="1">
                <a:solidFill>
                  <a:srgbClr val="0D9488"/>
                </a:solidFill>
              </a:defRPr>
            </a:pPr>
            <a:r>
              <a:t>RECOMMENDED DEPARTMENT</a:t>
            </a:r>
          </a:p>
          <a:p>
            <a:pPr>
              <a:spcAft>
                <a:spcPts val="600"/>
              </a:spcAft>
              <a:defRPr sz="1050" b="0">
                <a:solidFill>
                  <a:srgbClr val="0F172A"/>
                </a:solidFill>
              </a:defRPr>
            </a:pPr>
            <a:r>
              <a:t>Cardiology (Cardiovascular Medicine)</a:t>
            </a:r>
          </a:p>
          <a:p>
            <a:pPr>
              <a:defRPr sz="900" b="1">
                <a:solidFill>
                  <a:srgbClr val="0D9488"/>
                </a:solidFill>
              </a:defRPr>
            </a:pPr>
            <a:r>
              <a:t>MODEL CONFIDENCE</a:t>
            </a:r>
          </a:p>
          <a:p>
            <a:pPr>
              <a:spcAft>
                <a:spcPts val="600"/>
              </a:spcAft>
              <a:defRPr sz="1050" b="1">
                <a:solidFill>
                  <a:srgbClr val="0F172A"/>
                </a:solidFill>
              </a:defRPr>
            </a:pPr>
            <a:r>
              <a:t>94.2% Primary Match</a:t>
            </a:r>
          </a:p>
          <a:p>
            <a:pPr>
              <a:defRPr sz="900" b="1">
                <a:solidFill>
                  <a:srgbClr val="0D9488"/>
                </a:solidFill>
              </a:defRPr>
            </a:pPr>
            <a:r>
              <a:t>CLINICAL URGENCY</a:t>
            </a:r>
          </a:p>
          <a:p>
            <a:pPr>
              <a:spcAft>
                <a:spcPts val="600"/>
              </a:spcAft>
              <a:defRPr sz="1050" b="1">
                <a:solidFill>
                  <a:srgbClr val="E11D48"/>
                </a:solidFill>
              </a:defRPr>
            </a:pPr>
            <a:r>
              <a:t>Critical Emergency (Priority Red)</a:t>
            </a:r>
          </a:p>
          <a:p>
            <a:pPr>
              <a:defRPr sz="900" b="1">
                <a:solidFill>
                  <a:srgbClr val="0D9488"/>
                </a:solidFill>
              </a:defRPr>
            </a:pPr>
            <a:r>
              <a:t>TRIAGE ADVISORY</a:t>
            </a:r>
          </a:p>
          <a:p>
            <a:pPr>
              <a:spcAft>
                <a:spcPts val="600"/>
              </a:spcAft>
              <a:defRPr sz="1050" b="0">
                <a:solidFill>
                  <a:srgbClr val="0F172A"/>
                </a:solidFill>
              </a:defRPr>
            </a:pPr>
            <a:r>
              <a:t>Symptoms indicate acute cardiac distress. Immediate hospital emergency room admission recommended.</a:t>
            </a:r>
          </a:p>
          <a:p>
            <a:pPr>
              <a:defRPr sz="900" b="1">
                <a:solidFill>
                  <a:srgbClr val="0D9488"/>
                </a:solidFill>
              </a:defRPr>
            </a:pPr>
            <a:r>
              <a:t>MATCHED SPECIALIST</a:t>
            </a:r>
          </a:p>
          <a:p>
            <a:pPr>
              <a:spcAft>
                <a:spcPts val="600"/>
              </a:spcAft>
              <a:defRPr sz="1050" b="0">
                <a:solidFill>
                  <a:srgbClr val="0F172A"/>
                </a:solidFill>
              </a:defRPr>
            </a:pPr>
            <a:r>
              <a:t>Dr. Rajesh Sharma (Senior Interventional Cardiologist)</a:t>
            </a:r>
          </a:p>
          <a:p>
            <a:pPr>
              <a:defRPr sz="900" b="1">
                <a:solidFill>
                  <a:srgbClr val="0D9488"/>
                </a:solidFill>
              </a:defRPr>
            </a:pPr>
            <a:r>
              <a:t>AVAILABLE SLOTS</a:t>
            </a:r>
          </a:p>
          <a:p>
            <a:pPr>
              <a:spcAft>
                <a:spcPts val="600"/>
              </a:spcAft>
              <a:defRPr sz="1050" b="0">
                <a:solidFill>
                  <a:srgbClr val="0F172A"/>
                </a:solidFill>
              </a:defRPr>
            </a:pPr>
            <a:r>
              <a:t>10:30 AM  |  11:15 AM  |  02:00 PM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1000" b="1">
                <a:solidFill>
                  <a:srgbClr val="0D9488"/>
                </a:solidFill>
              </a:defRPr>
            </a:pPr>
            <a:r>
              <a:t>BOOKING &amp; FINANCIAL CORE</a:t>
            </a:r>
          </a:p>
        </p:txBody>
      </p:sp>
      <p:sp>
        <p:nvSpPr>
          <p:cNvPr id="4" name="TextBox 3"/>
          <p:cNvSpPr txBox="1"/>
          <p:nvPr/>
        </p:nvSpPr>
        <p:spPr>
          <a:xfrm>
            <a:off x="731520" y="658368"/>
            <a:ext cx="10515600" cy="548640"/>
          </a:xfrm>
          <a:prstGeom prst="rect">
            <a:avLst/>
          </a:prstGeom>
          <a:noFill/>
        </p:spPr>
        <p:txBody>
          <a:bodyPr wrap="square" lIns="0" tIns="0" rIns="0" bIns="0">
            <a:spAutoFit/>
          </a:bodyPr>
          <a:lstStyle/>
          <a:p>
            <a:pPr>
              <a:defRPr sz="2200" b="1">
                <a:solidFill>
                  <a:srgbClr val="0F172A"/>
                </a:solidFill>
              </a:defRPr>
            </a:pPr>
            <a:r>
              <a:t>Modules 2 &amp; 3: ACID Slot Booking &amp; Multi-Gateway Payments</a:t>
            </a:r>
          </a:p>
        </p:txBody>
      </p:sp>
      <p:sp>
        <p:nvSpPr>
          <p:cNvPr id="5" name="TextBox 4"/>
          <p:cNvSpPr txBox="1"/>
          <p:nvPr/>
        </p:nvSpPr>
        <p:spPr>
          <a:xfrm>
            <a:off x="731520" y="1234440"/>
            <a:ext cx="10515600" cy="365760"/>
          </a:xfrm>
          <a:prstGeom prst="rect">
            <a:avLst/>
          </a:prstGeom>
          <a:noFill/>
        </p:spPr>
        <p:txBody>
          <a:bodyPr wrap="square" lIns="0" tIns="0" rIns="0" bIns="0">
            <a:spAutoFit/>
          </a:bodyPr>
          <a:lstStyle/>
          <a:p>
            <a:pPr>
              <a:defRPr sz="1150">
                <a:solidFill>
                  <a:srgbClr val="64748B"/>
                </a:solidFill>
              </a:defRPr>
            </a:pPr>
            <a:r>
              <a:t>Preventing scheduling collisions and guaranteeing transaction integrity.</a:t>
            </a:r>
          </a:p>
        </p:txBody>
      </p:sp>
      <p:sp>
        <p:nvSpPr>
          <p:cNvPr id="6" name="Rounded Rectangle 5"/>
          <p:cNvSpPr/>
          <p:nvPr/>
        </p:nvSpPr>
        <p:spPr>
          <a:xfrm>
            <a:off x="731520" y="1737360"/>
            <a:ext cx="5257800" cy="4480560"/>
          </a:xfrm>
          <a:prstGeom prst="roundRect">
            <a:avLst/>
          </a:prstGeom>
          <a:solidFill>
            <a:srgbClr val="F8FAFC"/>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92040" cy="4114800"/>
          </a:xfrm>
          <a:prstGeom prst="rect">
            <a:avLst/>
          </a:prstGeom>
          <a:noFill/>
        </p:spPr>
        <p:txBody>
          <a:bodyPr wrap="square">
            <a:spAutoFit/>
          </a:bodyPr>
          <a:lstStyle/>
          <a:p>
            <a:pPr>
              <a:spcAft>
                <a:spcPts val="800"/>
              </a:spcAft>
              <a:defRPr sz="1400" b="1">
                <a:solidFill>
                  <a:srgbClr val="0284C7"/>
                </a:solidFill>
              </a:defRPr>
            </a:pPr>
            <a:r>
              <a:t>ACID Concurrency Locking</a:t>
            </a:r>
          </a:p>
          <a:p>
            <a:pPr>
              <a:spcAft>
                <a:spcPts val="600"/>
              </a:spcAft>
              <a:defRPr sz="1000" b="1">
                <a:solidFill>
                  <a:srgbClr val="0F172A"/>
                </a:solidFill>
              </a:defRPr>
            </a:pPr>
            <a:r>
              <a:t>• The Race Condition Danger: </a:t>
            </a:r>
            <a:r>
              <a:rPr b="0">
                <a:solidFill>
                  <a:srgbClr val="1E293B"/>
                </a:solidFill>
              </a:rPr>
              <a:t>In busy hospital systems, multiple patients often click the same doctor time-slot simultaneously, leading to double-booked appointments.</a:t>
            </a:r>
          </a:p>
          <a:p>
            <a:pPr>
              <a:spcAft>
                <a:spcPts val="600"/>
              </a:spcAft>
              <a:defRPr sz="1000" b="1">
                <a:solidFill>
                  <a:srgbClr val="0F172A"/>
                </a:solidFill>
              </a:defRPr>
            </a:pPr>
            <a:r>
              <a:t>• Transactional Row Locking: </a:t>
            </a:r>
            <a:r>
              <a:rPr b="0">
                <a:solidFill>
                  <a:srgbClr val="1E293B"/>
                </a:solidFill>
              </a:rPr>
              <a:t>CarePulse AI executes a strict database transaction lock:
SELECT id FROM appointments WHERE doctor_id = ? AND appointment_date = ? AND appointment_time = ? FOR UPDATE;</a:t>
            </a:r>
          </a:p>
          <a:p>
            <a:pPr>
              <a:spcAft>
                <a:spcPts val="600"/>
              </a:spcAft>
              <a:defRPr sz="1000" b="1">
                <a:solidFill>
                  <a:srgbClr val="0F172A"/>
                </a:solidFill>
              </a:defRPr>
            </a:pPr>
            <a:r>
              <a:t>• Zero Collision Guarantee: </a:t>
            </a:r>
            <a:r>
              <a:rPr b="0">
                <a:solidFill>
                  <a:srgbClr val="1E293B"/>
                </a:solidFill>
              </a:rPr>
              <a:t>The database serializes concurrent slot claims; the second patient is instantly alerted with a friendly 'Slot just taken' notification.</a:t>
            </a:r>
          </a:p>
          <a:p>
            <a:pPr>
              <a:spcAft>
                <a:spcPts val="600"/>
              </a:spcAft>
              <a:defRPr sz="1000" b="1">
                <a:solidFill>
                  <a:srgbClr val="0F172A"/>
                </a:solidFill>
              </a:defRPr>
            </a:pPr>
            <a:r>
              <a:t>• Sequential Queue Tokening: </a:t>
            </a:r>
            <a:r>
              <a:rPr b="0">
                <a:solidFill>
                  <a:srgbClr val="1E293B"/>
                </a:solidFill>
              </a:rPr>
              <a:t>Generates daily sequential queue tokens (Token #1, #2...) plus cryptographic appointment codes (e.g. APT-202609-8472).</a:t>
            </a:r>
          </a:p>
          <a:p>
            <a:pPr>
              <a:spcAft>
                <a:spcPts val="600"/>
              </a:spcAft>
              <a:defRPr sz="1000" b="1">
                <a:solidFill>
                  <a:srgbClr val="0F172A"/>
                </a:solidFill>
              </a:defRPr>
            </a:pPr>
            <a:r>
              <a:t>• Consultation Mode Choice: </a:t>
            </a:r>
            <a:r>
              <a:rPr b="0">
                <a:solidFill>
                  <a:srgbClr val="1E293B"/>
                </a:solidFill>
              </a:rPr>
              <a:t>Patients choose between Physical In-Hospital OPD Visit or Online HD Video Consultation at checkout.</a:t>
            </a:r>
          </a:p>
        </p:txBody>
      </p:sp>
      <p:sp>
        <p:nvSpPr>
          <p:cNvPr id="8" name="Rounded Rectangle 7"/>
          <p:cNvSpPr/>
          <p:nvPr/>
        </p:nvSpPr>
        <p:spPr>
          <a:xfrm>
            <a:off x="6217920" y="1737360"/>
            <a:ext cx="5257800" cy="4480560"/>
          </a:xfrm>
          <a:prstGeom prst="roundRect">
            <a:avLst/>
          </a:prstGeom>
          <a:solidFill>
            <a:srgbClr val="F8FAFC"/>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920240"/>
            <a:ext cx="4892040" cy="4114800"/>
          </a:xfrm>
          <a:prstGeom prst="rect">
            <a:avLst/>
          </a:prstGeom>
          <a:noFill/>
        </p:spPr>
        <p:txBody>
          <a:bodyPr wrap="square">
            <a:spAutoFit/>
          </a:bodyPr>
          <a:lstStyle/>
          <a:p>
            <a:pPr>
              <a:spcAft>
                <a:spcPts val="800"/>
              </a:spcAft>
              <a:defRPr sz="1400" b="1">
                <a:solidFill>
                  <a:srgbClr val="10B981"/>
                </a:solidFill>
              </a:defRPr>
            </a:pPr>
            <a:r>
              <a:t>Multi-Channel Payment Gateway</a:t>
            </a:r>
          </a:p>
          <a:p>
            <a:pPr>
              <a:spcAft>
                <a:spcPts val="600"/>
              </a:spcAft>
              <a:defRPr sz="1000" b="1">
                <a:solidFill>
                  <a:srgbClr val="0F172A"/>
                </a:solidFill>
              </a:defRPr>
            </a:pPr>
            <a:r>
              <a:t>✔ Unified Payment Channels: </a:t>
            </a:r>
            <a:r>
              <a:rPr b="0">
                <a:solidFill>
                  <a:srgbClr val="1E293B"/>
                </a:solidFill>
              </a:rPr>
              <a:t>Supports India/Global payment rails: UPI (Dynamic QR Code &amp; Virtual Payment Address), Credit/Debit Cards, and Net Banking switches.</a:t>
            </a:r>
          </a:p>
          <a:p>
            <a:pPr>
              <a:spcAft>
                <a:spcPts val="600"/>
              </a:spcAft>
              <a:defRPr sz="1000" b="1">
                <a:solidFill>
                  <a:srgbClr val="0F172A"/>
                </a:solidFill>
              </a:defRPr>
            </a:pPr>
            <a:r>
              <a:t>✔ Card Format Validation: </a:t>
            </a:r>
            <a:r>
              <a:rPr b="0">
                <a:solidFill>
                  <a:srgbClr val="1E293B"/>
                </a:solidFill>
              </a:rPr>
              <a:t>Client &amp; server-side validation enforcing Luhn algorithm, expiry checks, and CVV masking.</a:t>
            </a:r>
          </a:p>
          <a:p>
            <a:pPr>
              <a:spcAft>
                <a:spcPts val="600"/>
              </a:spcAft>
              <a:defRPr sz="1000" b="1">
                <a:solidFill>
                  <a:srgbClr val="0F172A"/>
                </a:solidFill>
              </a:defRPr>
            </a:pPr>
            <a:r>
              <a:t>✔ Settlement-Coupled Confirmation: </a:t>
            </a:r>
            <a:r>
              <a:rPr b="0">
                <a:solidFill>
                  <a:srgbClr val="1E293B"/>
                </a:solidFill>
              </a:rPr>
              <a:t>Appointments remain in 'pending_payment' status and auto-transition to 'confirmed' only upon payment settlement callback.</a:t>
            </a:r>
          </a:p>
          <a:p>
            <a:pPr>
              <a:spcAft>
                <a:spcPts val="600"/>
              </a:spcAft>
              <a:defRPr sz="1000" b="1">
                <a:solidFill>
                  <a:srgbClr val="0F172A"/>
                </a:solidFill>
              </a:defRPr>
            </a:pPr>
            <a:r>
              <a:t>✔ Automated Invoicing: </a:t>
            </a:r>
            <a:r>
              <a:rPr b="0">
                <a:solidFill>
                  <a:srgbClr val="1E293B"/>
                </a:solidFill>
              </a:rPr>
              <a:t>Generates official printable receipts with GST breakdowns, hospital registration details, transaction hashes, and digital verification QR codes.</a:t>
            </a:r>
          </a:p>
          <a:p>
            <a:pPr>
              <a:spcAft>
                <a:spcPts val="600"/>
              </a:spcAft>
              <a:defRPr sz="1000" b="1">
                <a:solidFill>
                  <a:srgbClr val="0F172A"/>
                </a:solidFill>
              </a:defRPr>
            </a:pPr>
            <a:r>
              <a:t>✔ Payment Ledger Audit: </a:t>
            </a:r>
            <a:r>
              <a:rPr b="0">
                <a:solidFill>
                  <a:srgbClr val="1E293B"/>
                </a:solidFill>
              </a:rPr>
              <a:t>Administrators have a real-time revenue ledger showing payment channel split (UPI vs Cards vs Net Banking).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1000" b="1">
                <a:solidFill>
                  <a:srgbClr val="0D9488"/>
                </a:solidFill>
              </a:defRPr>
            </a:pPr>
            <a:r>
              <a:t>QUEUE TELEMETRY</a:t>
            </a:r>
          </a:p>
        </p:txBody>
      </p:sp>
      <p:sp>
        <p:nvSpPr>
          <p:cNvPr id="4" name="TextBox 3"/>
          <p:cNvSpPr txBox="1"/>
          <p:nvPr/>
        </p:nvSpPr>
        <p:spPr>
          <a:xfrm>
            <a:off x="731520" y="658368"/>
            <a:ext cx="10515600" cy="548640"/>
          </a:xfrm>
          <a:prstGeom prst="rect">
            <a:avLst/>
          </a:prstGeom>
          <a:noFill/>
        </p:spPr>
        <p:txBody>
          <a:bodyPr wrap="square" lIns="0" tIns="0" rIns="0" bIns="0">
            <a:spAutoFit/>
          </a:bodyPr>
          <a:lstStyle/>
          <a:p>
            <a:pPr>
              <a:defRPr sz="2200" b="1">
                <a:solidFill>
                  <a:srgbClr val="0F172A"/>
                </a:solidFill>
              </a:defRPr>
            </a:pPr>
            <a:r>
              <a:t>Module 4: Smart Queue &amp; Dynamic Wait-Time Prediction</a:t>
            </a:r>
          </a:p>
        </p:txBody>
      </p:sp>
      <p:sp>
        <p:nvSpPr>
          <p:cNvPr id="5" name="TextBox 4"/>
          <p:cNvSpPr txBox="1"/>
          <p:nvPr/>
        </p:nvSpPr>
        <p:spPr>
          <a:xfrm>
            <a:off x="731520" y="1234440"/>
            <a:ext cx="10515600" cy="365760"/>
          </a:xfrm>
          <a:prstGeom prst="rect">
            <a:avLst/>
          </a:prstGeom>
          <a:noFill/>
        </p:spPr>
        <p:txBody>
          <a:bodyPr wrap="square" lIns="0" tIns="0" rIns="0" bIns="0">
            <a:spAutoFit/>
          </a:bodyPr>
          <a:lstStyle/>
          <a:p>
            <a:pPr>
              <a:defRPr sz="1150">
                <a:solidFill>
                  <a:srgbClr val="64748B"/>
                </a:solidFill>
              </a:defRPr>
            </a:pPr>
            <a:r>
              <a:t>Replacing waiting room anxiety with mathematical transparency and live polling.</a:t>
            </a:r>
          </a:p>
        </p:txBody>
      </p:sp>
      <p:sp>
        <p:nvSpPr>
          <p:cNvPr id="6" name="Rounded Rectangle 5"/>
          <p:cNvSpPr/>
          <p:nvPr/>
        </p:nvSpPr>
        <p:spPr>
          <a:xfrm>
            <a:off x="731520" y="1737360"/>
            <a:ext cx="10744200" cy="1188720"/>
          </a:xfrm>
          <a:prstGeom prst="roundRect">
            <a:avLst/>
          </a:prstGeom>
          <a:solidFill>
            <a:srgbClr val="F0FDFA"/>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10378440" cy="1005840"/>
          </a:xfrm>
          <a:prstGeom prst="rect">
            <a:avLst/>
          </a:prstGeom>
          <a:noFill/>
        </p:spPr>
        <p:txBody>
          <a:bodyPr wrap="square">
            <a:spAutoFit/>
          </a:bodyPr>
          <a:lstStyle/>
          <a:p>
            <a:pPr>
              <a:defRPr sz="1000" b="1">
                <a:solidFill>
                  <a:srgbClr val="0D9488"/>
                </a:solidFill>
              </a:defRPr>
            </a:pPr>
            <a:r>
              <a:t>THE CAREPULSE DYNAMIC WAIT-TIME ALGORITHM</a:t>
            </a:r>
          </a:p>
          <a:p>
            <a:pPr>
              <a:spcBef>
                <a:spcPts val="400"/>
              </a:spcBef>
              <a:defRPr sz="1500" b="1">
                <a:solidFill>
                  <a:srgbClr val="0F172A"/>
                </a:solidFill>
              </a:defRPr>
            </a:pPr>
            <a:r>
              <a:t>Estimated Wait Time = (Queue Position - Current Serving Token) × Doctor Consult Speed × Surge Factor</a:t>
            </a:r>
          </a:p>
          <a:p>
            <a:pPr>
              <a:defRPr sz="1000">
                <a:solidFill>
                  <a:srgbClr val="64748B"/>
                </a:solidFill>
              </a:defRPr>
            </a:pPr>
            <a:r>
              <a:t>Where Consult Speed is dynamically learned from the doctor's completed consultations today, and Surge Factor accounts for complex triage variances.</a:t>
            </a:r>
          </a:p>
        </p:txBody>
      </p:sp>
      <p:sp>
        <p:nvSpPr>
          <p:cNvPr id="8" name="Rounded Rectangle 7"/>
          <p:cNvSpPr/>
          <p:nvPr/>
        </p:nvSpPr>
        <p:spPr>
          <a:xfrm>
            <a:off x="731520" y="3154680"/>
            <a:ext cx="3474720" cy="3063240"/>
          </a:xfrm>
          <a:prstGeom prst="roundRect">
            <a:avLst/>
          </a:prstGeom>
          <a:solidFill>
            <a:srgbClr val="F8FAFC"/>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337560"/>
            <a:ext cx="3108960" cy="2697480"/>
          </a:xfrm>
          <a:prstGeom prst="rect">
            <a:avLst/>
          </a:prstGeom>
          <a:noFill/>
        </p:spPr>
        <p:txBody>
          <a:bodyPr wrap="square">
            <a:spAutoFit/>
          </a:bodyPr>
          <a:lstStyle/>
          <a:p>
            <a:pPr>
              <a:spcAft>
                <a:spcPts val="800"/>
              </a:spcAft>
              <a:defRPr sz="1300" b="1">
                <a:solidFill>
                  <a:srgbClr val="0284C7"/>
                </a:solidFill>
              </a:defRPr>
            </a:pPr>
            <a:r>
              <a:t>Live AJAX Polling</a:t>
            </a:r>
          </a:p>
          <a:p>
            <a:pPr>
              <a:spcAft>
                <a:spcPts val="600"/>
              </a:spcAft>
              <a:defRPr sz="1000">
                <a:solidFill>
                  <a:srgbClr val="1E293B"/>
                </a:solidFill>
              </a:defRPr>
            </a:pPr>
            <a:r>
              <a:t>• Patient smartphone dashboard polls the queue state every 15 seconds.</a:t>
            </a:r>
          </a:p>
          <a:p>
            <a:pPr>
              <a:spcAft>
                <a:spcPts val="600"/>
              </a:spcAft>
              <a:defRPr sz="1000">
                <a:solidFill>
                  <a:srgbClr val="1E293B"/>
                </a:solidFill>
              </a:defRPr>
            </a:pPr>
            <a:r>
              <a:t>• Zero page reload: Live progress bar animates forward as the doctor marks consultations completed.</a:t>
            </a:r>
          </a:p>
          <a:p>
            <a:pPr>
              <a:spcAft>
                <a:spcPts val="600"/>
              </a:spcAft>
              <a:defRPr sz="1000">
                <a:solidFill>
                  <a:srgbClr val="1E293B"/>
                </a:solidFill>
              </a:defRPr>
            </a:pPr>
            <a:r>
              <a:t>• Displays: Current Token Serving, Patients Ahead, and Estimated Turn Time.</a:t>
            </a:r>
          </a:p>
        </p:txBody>
      </p:sp>
      <p:sp>
        <p:nvSpPr>
          <p:cNvPr id="10" name="Rounded Rectangle 9"/>
          <p:cNvSpPr/>
          <p:nvPr/>
        </p:nvSpPr>
        <p:spPr>
          <a:xfrm>
            <a:off x="4343400" y="3154680"/>
            <a:ext cx="3474720" cy="3063240"/>
          </a:xfrm>
          <a:prstGeom prst="roundRect">
            <a:avLst/>
          </a:prstGeom>
          <a:solidFill>
            <a:srgbClr val="F8FAFC"/>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3337560"/>
            <a:ext cx="3108960" cy="2697480"/>
          </a:xfrm>
          <a:prstGeom prst="rect">
            <a:avLst/>
          </a:prstGeom>
          <a:noFill/>
        </p:spPr>
        <p:txBody>
          <a:bodyPr wrap="square">
            <a:spAutoFit/>
          </a:bodyPr>
          <a:lstStyle/>
          <a:p>
            <a:pPr>
              <a:spcAft>
                <a:spcPts val="800"/>
              </a:spcAft>
              <a:defRPr sz="1300" b="1">
                <a:solidFill>
                  <a:srgbClr val="0D9488"/>
                </a:solidFill>
              </a:defRPr>
            </a:pPr>
            <a:r>
              <a:t>Doctor Pacing Adaptation</a:t>
            </a:r>
          </a:p>
          <a:p>
            <a:pPr>
              <a:spcAft>
                <a:spcPts val="600"/>
              </a:spcAft>
              <a:defRPr sz="1000">
                <a:solidFill>
                  <a:srgbClr val="1E293B"/>
                </a:solidFill>
              </a:defRPr>
            </a:pPr>
            <a:r>
              <a:t>• Tracks doctor consultation velocity: If a specialist averages 12 mins/patient instead of 15, the queue adapts immediately.</a:t>
            </a:r>
          </a:p>
          <a:p>
            <a:pPr>
              <a:spcAft>
                <a:spcPts val="600"/>
              </a:spcAft>
              <a:defRPr sz="1000">
                <a:solidFill>
                  <a:srgbClr val="1E293B"/>
                </a:solidFill>
              </a:defRPr>
            </a:pPr>
            <a:r>
              <a:t>• Eliminates static schedule drift where doctors run 45 minutes late without patient awareness.</a:t>
            </a:r>
          </a:p>
          <a:p>
            <a:pPr>
              <a:spcAft>
                <a:spcPts val="600"/>
              </a:spcAft>
              <a:defRPr sz="1000">
                <a:solidFill>
                  <a:srgbClr val="1E293B"/>
                </a:solidFill>
              </a:defRPr>
            </a:pPr>
            <a:r>
              <a:t>• Frees patients to wait in the cafeteria or at home rather than crowded waiting rooms.</a:t>
            </a:r>
          </a:p>
        </p:txBody>
      </p:sp>
      <p:sp>
        <p:nvSpPr>
          <p:cNvPr id="12" name="Rounded Rectangle 11"/>
          <p:cNvSpPr/>
          <p:nvPr/>
        </p:nvSpPr>
        <p:spPr>
          <a:xfrm>
            <a:off x="7955280" y="3154680"/>
            <a:ext cx="3474720" cy="3063240"/>
          </a:xfrm>
          <a:prstGeom prst="roundRect">
            <a:avLst/>
          </a:prstGeom>
          <a:solidFill>
            <a:srgbClr val="F8FAFC"/>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38160" y="3337560"/>
            <a:ext cx="3108960" cy="2697480"/>
          </a:xfrm>
          <a:prstGeom prst="rect">
            <a:avLst/>
          </a:prstGeom>
          <a:noFill/>
        </p:spPr>
        <p:txBody>
          <a:bodyPr wrap="square">
            <a:spAutoFit/>
          </a:bodyPr>
          <a:lstStyle/>
          <a:p>
            <a:pPr>
              <a:spcAft>
                <a:spcPts val="800"/>
              </a:spcAft>
              <a:defRPr sz="1300" b="1">
                <a:solidFill>
                  <a:srgbClr val="D97706"/>
                </a:solidFill>
              </a:defRPr>
            </a:pPr>
            <a:r>
              <a:t>Queue State Synchronization</a:t>
            </a:r>
          </a:p>
          <a:p>
            <a:pPr>
              <a:spcAft>
                <a:spcPts val="600"/>
              </a:spcAft>
              <a:defRPr sz="1000">
                <a:solidFill>
                  <a:srgbClr val="1E293B"/>
                </a:solidFill>
              </a:defRPr>
            </a:pPr>
            <a:r>
              <a:t>• Doctor's OPD console features 'Call Next Patient' and 'Start Consultation' buttons.</a:t>
            </a:r>
          </a:p>
          <a:p>
            <a:pPr>
              <a:spcAft>
                <a:spcPts val="600"/>
              </a:spcAft>
              <a:defRPr sz="1000">
                <a:solidFill>
                  <a:srgbClr val="1E293B"/>
                </a:solidFill>
              </a:defRPr>
            </a:pPr>
            <a:r>
              <a:t>• Status changes broadcast instantaneously to both the hospital triage screen and the patient's mobile device.</a:t>
            </a:r>
          </a:p>
          <a:p>
            <a:pPr>
              <a:spcAft>
                <a:spcPts val="600"/>
              </a:spcAft>
              <a:defRPr sz="1000">
                <a:solidFill>
                  <a:srgbClr val="1E293B"/>
                </a:solidFill>
              </a:defRPr>
            </a:pPr>
            <a:r>
              <a:t>• Maintains historic audit logs of arrival time, wait time, and consult duration.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1000" b="1">
                <a:solidFill>
                  <a:srgbClr val="0D9488"/>
                </a:solidFill>
              </a:defRPr>
            </a:pPr>
            <a:r>
              <a:t>TELEMEDICINE SUITE</a:t>
            </a:r>
          </a:p>
        </p:txBody>
      </p:sp>
      <p:sp>
        <p:nvSpPr>
          <p:cNvPr id="4" name="TextBox 3"/>
          <p:cNvSpPr txBox="1"/>
          <p:nvPr/>
        </p:nvSpPr>
        <p:spPr>
          <a:xfrm>
            <a:off x="731520" y="658368"/>
            <a:ext cx="10515600" cy="548640"/>
          </a:xfrm>
          <a:prstGeom prst="rect">
            <a:avLst/>
          </a:prstGeom>
          <a:noFill/>
        </p:spPr>
        <p:txBody>
          <a:bodyPr wrap="square" lIns="0" tIns="0" rIns="0" bIns="0">
            <a:spAutoFit/>
          </a:bodyPr>
          <a:lstStyle/>
          <a:p>
            <a:pPr>
              <a:defRPr sz="2200" b="1">
                <a:solidFill>
                  <a:srgbClr val="0F172A"/>
                </a:solidFill>
              </a:defRPr>
            </a:pPr>
            <a:r>
              <a:t>Module 5: Browser-Native WebRTC Video Consultation</a:t>
            </a:r>
          </a:p>
        </p:txBody>
      </p:sp>
      <p:sp>
        <p:nvSpPr>
          <p:cNvPr id="5" name="TextBox 4"/>
          <p:cNvSpPr txBox="1"/>
          <p:nvPr/>
        </p:nvSpPr>
        <p:spPr>
          <a:xfrm>
            <a:off x="731520" y="1234440"/>
            <a:ext cx="10515600" cy="365760"/>
          </a:xfrm>
          <a:prstGeom prst="rect">
            <a:avLst/>
          </a:prstGeom>
          <a:noFill/>
        </p:spPr>
        <p:txBody>
          <a:bodyPr wrap="square" lIns="0" tIns="0" rIns="0" bIns="0">
            <a:spAutoFit/>
          </a:bodyPr>
          <a:lstStyle/>
          <a:p>
            <a:pPr>
              <a:defRPr sz="1150">
                <a:solidFill>
                  <a:srgbClr val="64748B"/>
                </a:solidFill>
              </a:defRPr>
            </a:pPr>
            <a:r>
              <a:t>Zero-install, encrypted peer video conferencing integrated with live clinical scratchpad.</a:t>
            </a:r>
          </a:p>
        </p:txBody>
      </p:sp>
      <p:sp>
        <p:nvSpPr>
          <p:cNvPr id="6" name="Rounded Rectangle 5"/>
          <p:cNvSpPr/>
          <p:nvPr/>
        </p:nvSpPr>
        <p:spPr>
          <a:xfrm>
            <a:off x="731520" y="1737360"/>
            <a:ext cx="5257800" cy="2103120"/>
          </a:xfrm>
          <a:prstGeom prst="roundRect">
            <a:avLst/>
          </a:prstGeom>
          <a:solidFill>
            <a:srgbClr val="F8FAFC"/>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20240"/>
            <a:ext cx="4800600" cy="1737360"/>
          </a:xfrm>
          <a:prstGeom prst="rect">
            <a:avLst/>
          </a:prstGeom>
          <a:noFill/>
        </p:spPr>
        <p:txBody>
          <a:bodyPr wrap="square">
            <a:spAutoFit/>
          </a:bodyPr>
          <a:lstStyle/>
          <a:p>
            <a:pPr>
              <a:spcAft>
                <a:spcPts val="600"/>
              </a:spcAft>
              <a:defRPr sz="1300" b="1">
                <a:solidFill>
                  <a:srgbClr val="0284C7"/>
                </a:solidFill>
              </a:defRPr>
            </a:pPr>
            <a:r>
              <a:t>Zero-Install WebRTC</a:t>
            </a:r>
          </a:p>
          <a:p>
            <a:pPr>
              <a:spcAft>
                <a:spcPts val="400"/>
              </a:spcAft>
              <a:defRPr sz="1000">
                <a:solidFill>
                  <a:srgbClr val="1E293B"/>
                </a:solidFill>
              </a:defRPr>
            </a:pPr>
            <a:r>
              <a:t>• Operates directly in modern web browsers (Chrome, Edge, Safari, Firefox).</a:t>
            </a:r>
          </a:p>
          <a:p>
            <a:pPr>
              <a:spcAft>
                <a:spcPts val="400"/>
              </a:spcAft>
              <a:defRPr sz="1000">
                <a:solidFill>
                  <a:srgbClr val="1E293B"/>
                </a:solidFill>
              </a:defRPr>
            </a:pPr>
            <a:r>
              <a:t>• No third-party app downloads (no Zoom, MS Teams, or Skype required).</a:t>
            </a:r>
          </a:p>
          <a:p>
            <a:pPr>
              <a:spcAft>
                <a:spcPts val="400"/>
              </a:spcAft>
              <a:defRPr sz="1000">
                <a:solidFill>
                  <a:srgbClr val="1E293B"/>
                </a:solidFill>
              </a:defRPr>
            </a:pPr>
            <a:r>
              <a:t>• Direct peer-to-peer audio/video streaming with WebRTC media constraints.</a:t>
            </a:r>
          </a:p>
        </p:txBody>
      </p:sp>
      <p:sp>
        <p:nvSpPr>
          <p:cNvPr id="8" name="Rounded Rectangle 7"/>
          <p:cNvSpPr/>
          <p:nvPr/>
        </p:nvSpPr>
        <p:spPr>
          <a:xfrm>
            <a:off x="6172200" y="1737360"/>
            <a:ext cx="5257800" cy="2103120"/>
          </a:xfrm>
          <a:prstGeom prst="roundRect">
            <a:avLst/>
          </a:prstGeom>
          <a:solidFill>
            <a:srgbClr val="F8FAFC"/>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920240"/>
            <a:ext cx="4800600" cy="1737360"/>
          </a:xfrm>
          <a:prstGeom prst="rect">
            <a:avLst/>
          </a:prstGeom>
          <a:noFill/>
        </p:spPr>
        <p:txBody>
          <a:bodyPr wrap="square">
            <a:spAutoFit/>
          </a:bodyPr>
          <a:lstStyle/>
          <a:p>
            <a:pPr>
              <a:spcAft>
                <a:spcPts val="600"/>
              </a:spcAft>
              <a:defRPr sz="1300" b="1">
                <a:solidFill>
                  <a:srgbClr val="0D9488"/>
                </a:solidFill>
              </a:defRPr>
            </a:pPr>
            <a:r>
              <a:t>Integrated Media Controls</a:t>
            </a:r>
          </a:p>
          <a:p>
            <a:pPr>
              <a:spcAft>
                <a:spcPts val="400"/>
              </a:spcAft>
              <a:defRPr sz="1000">
                <a:solidFill>
                  <a:srgbClr val="1E293B"/>
                </a:solidFill>
              </a:defRPr>
            </a:pPr>
            <a:r>
              <a:t>• Instant toggle for Camera On/Off and Microphone Mute/Unmute.</a:t>
            </a:r>
          </a:p>
          <a:p>
            <a:pPr>
              <a:spcAft>
                <a:spcPts val="400"/>
              </a:spcAft>
              <a:defRPr sz="1000">
                <a:solidFill>
                  <a:srgbClr val="1E293B"/>
                </a:solidFill>
              </a:defRPr>
            </a:pPr>
            <a:r>
              <a:t>• Desktop Screen Sharing support for reviewing lab reports and X-rays collaboratively.</a:t>
            </a:r>
          </a:p>
          <a:p>
            <a:pPr>
              <a:spcAft>
                <a:spcPts val="400"/>
              </a:spcAft>
              <a:defRPr sz="1000">
                <a:solidFill>
                  <a:srgbClr val="1E293B"/>
                </a:solidFill>
              </a:defRPr>
            </a:pPr>
            <a:r>
              <a:t>• In-call real-time text chat for transmitting dosage clarifications or links.</a:t>
            </a:r>
          </a:p>
        </p:txBody>
      </p:sp>
      <p:sp>
        <p:nvSpPr>
          <p:cNvPr id="10" name="Rounded Rectangle 9"/>
          <p:cNvSpPr/>
          <p:nvPr/>
        </p:nvSpPr>
        <p:spPr>
          <a:xfrm>
            <a:off x="731520" y="4023360"/>
            <a:ext cx="5257800" cy="2103120"/>
          </a:xfrm>
          <a:prstGeom prst="roundRect">
            <a:avLst/>
          </a:prstGeom>
          <a:solidFill>
            <a:srgbClr val="F8FAFC"/>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4206240"/>
            <a:ext cx="4800600" cy="1737360"/>
          </a:xfrm>
          <a:prstGeom prst="rect">
            <a:avLst/>
          </a:prstGeom>
          <a:noFill/>
        </p:spPr>
        <p:txBody>
          <a:bodyPr wrap="square">
            <a:spAutoFit/>
          </a:bodyPr>
          <a:lstStyle/>
          <a:p>
            <a:pPr>
              <a:spcAft>
                <a:spcPts val="600"/>
              </a:spcAft>
              <a:defRPr sz="1300" b="1">
                <a:solidFill>
                  <a:srgbClr val="D97706"/>
                </a:solidFill>
              </a:defRPr>
            </a:pPr>
            <a:r>
              <a:t>Live Clinical Notes Pad</a:t>
            </a:r>
          </a:p>
          <a:p>
            <a:pPr>
              <a:spcAft>
                <a:spcPts val="400"/>
              </a:spcAft>
              <a:defRPr sz="1000">
                <a:solidFill>
                  <a:srgbClr val="1E293B"/>
                </a:solidFill>
              </a:defRPr>
            </a:pPr>
            <a:r>
              <a:t>• Doctor's side-by-side scratchpad auto-saves clinical observations during the call.</a:t>
            </a:r>
          </a:p>
          <a:p>
            <a:pPr>
              <a:spcAft>
                <a:spcPts val="400"/>
              </a:spcAft>
              <a:defRPr sz="1000">
                <a:solidFill>
                  <a:srgbClr val="1E293B"/>
                </a:solidFill>
              </a:defRPr>
            </a:pPr>
            <a:r>
              <a:t>• Zero context switching: The physician observes the patient while writing observations.</a:t>
            </a:r>
          </a:p>
          <a:p>
            <a:pPr>
              <a:spcAft>
                <a:spcPts val="400"/>
              </a:spcAft>
              <a:defRPr sz="1000">
                <a:solidFill>
                  <a:srgbClr val="1E293B"/>
                </a:solidFill>
              </a:defRPr>
            </a:pPr>
            <a:r>
              <a:t>• Draft notes persist automatically across unexpected network hiccups.</a:t>
            </a:r>
          </a:p>
        </p:txBody>
      </p:sp>
      <p:sp>
        <p:nvSpPr>
          <p:cNvPr id="12" name="Rounded Rectangle 11"/>
          <p:cNvSpPr/>
          <p:nvPr/>
        </p:nvSpPr>
        <p:spPr>
          <a:xfrm>
            <a:off x="6172200" y="4023360"/>
            <a:ext cx="5257800" cy="2103120"/>
          </a:xfrm>
          <a:prstGeom prst="roundRect">
            <a:avLst/>
          </a:prstGeom>
          <a:solidFill>
            <a:srgbClr val="F8FAFC"/>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4206240"/>
            <a:ext cx="4800600" cy="1737360"/>
          </a:xfrm>
          <a:prstGeom prst="rect">
            <a:avLst/>
          </a:prstGeom>
          <a:noFill/>
        </p:spPr>
        <p:txBody>
          <a:bodyPr wrap="square">
            <a:spAutoFit/>
          </a:bodyPr>
          <a:lstStyle/>
          <a:p>
            <a:pPr>
              <a:spcAft>
                <a:spcPts val="600"/>
              </a:spcAft>
              <a:defRPr sz="1300" b="1">
                <a:solidFill>
                  <a:srgbClr val="10B981"/>
                </a:solidFill>
              </a:defRPr>
            </a:pPr>
            <a:r>
              <a:t>Seamless Handover to Rx</a:t>
            </a:r>
          </a:p>
          <a:p>
            <a:pPr>
              <a:spcAft>
                <a:spcPts val="400"/>
              </a:spcAft>
              <a:defRPr sz="1000">
                <a:solidFill>
                  <a:srgbClr val="1E293B"/>
                </a:solidFill>
              </a:defRPr>
            </a:pPr>
            <a:r>
              <a:t>• Concluding the video session automatically brings the physician to the Prescription Builder.</a:t>
            </a:r>
          </a:p>
          <a:p>
            <a:pPr>
              <a:spcAft>
                <a:spcPts val="400"/>
              </a:spcAft>
              <a:defRPr sz="1000">
                <a:solidFill>
                  <a:srgbClr val="1E293B"/>
                </a:solidFill>
              </a:defRPr>
            </a:pPr>
            <a:r>
              <a:t>• Clinical notes and diagnosis pre-populate into the prescription form.</a:t>
            </a:r>
          </a:p>
          <a:p>
            <a:pPr>
              <a:spcAft>
                <a:spcPts val="400"/>
              </a:spcAft>
              <a:defRPr sz="1000">
                <a:solidFill>
                  <a:srgbClr val="1E293B"/>
                </a:solidFill>
              </a:defRPr>
            </a:pPr>
            <a:r>
              <a:t>• The patient is automatically redirected to download their signed digital prescription.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1000" b="1">
                <a:solidFill>
                  <a:srgbClr val="0D9488"/>
                </a:solidFill>
              </a:defRPr>
            </a:pPr>
            <a:r>
              <a:t>POST-CONSULTATION CONTINUUM</a:t>
            </a:r>
          </a:p>
        </p:txBody>
      </p:sp>
      <p:sp>
        <p:nvSpPr>
          <p:cNvPr id="4" name="TextBox 3"/>
          <p:cNvSpPr txBox="1"/>
          <p:nvPr/>
        </p:nvSpPr>
        <p:spPr>
          <a:xfrm>
            <a:off x="731520" y="658368"/>
            <a:ext cx="10515600" cy="548640"/>
          </a:xfrm>
          <a:prstGeom prst="rect">
            <a:avLst/>
          </a:prstGeom>
          <a:noFill/>
        </p:spPr>
        <p:txBody>
          <a:bodyPr wrap="square" lIns="0" tIns="0" rIns="0" bIns="0">
            <a:spAutoFit/>
          </a:bodyPr>
          <a:lstStyle/>
          <a:p>
            <a:pPr>
              <a:defRPr sz="2200" b="1">
                <a:solidFill>
                  <a:srgbClr val="0F172A"/>
                </a:solidFill>
              </a:defRPr>
            </a:pPr>
            <a:r>
              <a:t>Modules 6 &amp; 7: Digital Prescription Vault &amp; Automated Reminders</a:t>
            </a:r>
          </a:p>
        </p:txBody>
      </p:sp>
      <p:sp>
        <p:nvSpPr>
          <p:cNvPr id="5" name="TextBox 4"/>
          <p:cNvSpPr txBox="1"/>
          <p:nvPr/>
        </p:nvSpPr>
        <p:spPr>
          <a:xfrm>
            <a:off x="731520" y="1234440"/>
            <a:ext cx="10515600" cy="365760"/>
          </a:xfrm>
          <a:prstGeom prst="rect">
            <a:avLst/>
          </a:prstGeom>
          <a:noFill/>
        </p:spPr>
        <p:txBody>
          <a:bodyPr wrap="square" lIns="0" tIns="0" rIns="0" bIns="0">
            <a:spAutoFit/>
          </a:bodyPr>
          <a:lstStyle/>
          <a:p>
            <a:pPr>
              <a:defRPr sz="1150">
                <a:solidFill>
                  <a:srgbClr val="64748B"/>
                </a:solidFill>
              </a:defRPr>
            </a:pPr>
            <a:r>
              <a:t>Standardized dosage schedules, tamper-evident records, and proactive patient medication adherence.</a:t>
            </a:r>
          </a:p>
        </p:txBody>
      </p:sp>
      <p:sp>
        <p:nvSpPr>
          <p:cNvPr id="6" name="Rounded Rectangle 5"/>
          <p:cNvSpPr/>
          <p:nvPr/>
        </p:nvSpPr>
        <p:spPr>
          <a:xfrm>
            <a:off x="731520" y="1737360"/>
            <a:ext cx="5257800" cy="4480560"/>
          </a:xfrm>
          <a:prstGeom prst="roundRect">
            <a:avLst/>
          </a:prstGeom>
          <a:solidFill>
            <a:srgbClr val="F8FAFC"/>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92040" cy="4114800"/>
          </a:xfrm>
          <a:prstGeom prst="rect">
            <a:avLst/>
          </a:prstGeom>
          <a:noFill/>
        </p:spPr>
        <p:txBody>
          <a:bodyPr wrap="square">
            <a:spAutoFit/>
          </a:bodyPr>
          <a:lstStyle/>
          <a:p>
            <a:pPr>
              <a:spcAft>
                <a:spcPts val="800"/>
              </a:spcAft>
              <a:defRPr sz="1400" b="1">
                <a:solidFill>
                  <a:srgbClr val="0D9488"/>
                </a:solidFill>
              </a:defRPr>
            </a:pPr>
            <a:r>
              <a:t>Digital Prescription Vault</a:t>
            </a:r>
          </a:p>
          <a:p>
            <a:pPr>
              <a:spcAft>
                <a:spcPts val="600"/>
              </a:spcAft>
              <a:defRPr sz="1000" b="1">
                <a:solidFill>
                  <a:srgbClr val="0F172A"/>
                </a:solidFill>
              </a:defRPr>
            </a:pPr>
            <a:r>
              <a:t>• Formal Printable PDF Format: </a:t>
            </a:r>
            <a:r>
              <a:rPr b="0">
                <a:solidFill>
                  <a:srgbClr val="1E293B"/>
                </a:solidFill>
              </a:rPr>
              <a:t>Standardized hospital layout complete with hospital crest, doctor registration credentials, diagnosis, Rx symbol, and digital signature.</a:t>
            </a:r>
          </a:p>
          <a:p>
            <a:pPr>
              <a:spcAft>
                <a:spcPts val="600"/>
              </a:spcAft>
              <a:defRPr sz="1000" b="1">
                <a:solidFill>
                  <a:srgbClr val="0F172A"/>
                </a:solidFill>
              </a:defRPr>
            </a:pPr>
            <a:r>
              <a:t>• Structured Dosage Scheduler: </a:t>
            </a:r>
            <a:r>
              <a:rPr b="0">
                <a:solidFill>
                  <a:srgbClr val="1E293B"/>
                </a:solidFill>
              </a:rPr>
              <a:t>Eliminates illegible doctor handwriting. Medicines are logged with Dosage, Frequency (Morning / Afternoon / Night), and Duration.</a:t>
            </a:r>
          </a:p>
          <a:p>
            <a:pPr>
              <a:spcAft>
                <a:spcPts val="600"/>
              </a:spcAft>
              <a:defRPr sz="1000" b="1">
                <a:solidFill>
                  <a:srgbClr val="0F172A"/>
                </a:solidFill>
              </a:defRPr>
            </a:pPr>
            <a:r>
              <a:t>• MIME-Validated Medical Vault: </a:t>
            </a:r>
            <a:r>
              <a:rPr b="0">
                <a:solidFill>
                  <a:srgbClr val="1E293B"/>
                </a:solidFill>
              </a:rPr>
              <a:t>Patients can upload past lab reports, ECGs, and scans. Uses PHP finfo server-side header inspection (PDF/JPG/PNG only).</a:t>
            </a:r>
          </a:p>
          <a:p>
            <a:pPr>
              <a:spcAft>
                <a:spcPts val="600"/>
              </a:spcAft>
              <a:defRPr sz="1000" b="1">
                <a:solidFill>
                  <a:srgbClr val="0F172A"/>
                </a:solidFill>
              </a:defRPr>
            </a:pPr>
            <a:r>
              <a:t>• Cryptographic Filename Security: </a:t>
            </a:r>
            <a:r>
              <a:rPr b="0">
                <a:solidFill>
                  <a:srgbClr val="1E293B"/>
                </a:solidFill>
              </a:rPr>
              <a:t>Uploads are saved using bin2hex(random_bytes(16)) to prevent path traversal and file enumeration exploits.</a:t>
            </a:r>
          </a:p>
          <a:p>
            <a:pPr>
              <a:spcAft>
                <a:spcPts val="600"/>
              </a:spcAft>
              <a:defRPr sz="1000" b="1">
                <a:solidFill>
                  <a:srgbClr val="0F172A"/>
                </a:solidFill>
              </a:defRPr>
            </a:pPr>
            <a:r>
              <a:t>• Instant Lifetime Access: </a:t>
            </a:r>
            <a:r>
              <a:rPr b="0">
                <a:solidFill>
                  <a:srgbClr val="1E293B"/>
                </a:solidFill>
              </a:rPr>
              <a:t>Patients and doctors can search, filter, and print any past prescription with one click from their dashboard.</a:t>
            </a:r>
          </a:p>
        </p:txBody>
      </p:sp>
      <p:sp>
        <p:nvSpPr>
          <p:cNvPr id="8" name="Rounded Rectangle 7"/>
          <p:cNvSpPr/>
          <p:nvPr/>
        </p:nvSpPr>
        <p:spPr>
          <a:xfrm>
            <a:off x="6217920" y="1737360"/>
            <a:ext cx="5257800" cy="4480560"/>
          </a:xfrm>
          <a:prstGeom prst="roundRect">
            <a:avLst/>
          </a:prstGeom>
          <a:solidFill>
            <a:srgbClr val="F8FAFC"/>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920240"/>
            <a:ext cx="4892040" cy="4114800"/>
          </a:xfrm>
          <a:prstGeom prst="rect">
            <a:avLst/>
          </a:prstGeom>
          <a:noFill/>
        </p:spPr>
        <p:txBody>
          <a:bodyPr wrap="square">
            <a:spAutoFit/>
          </a:bodyPr>
          <a:lstStyle/>
          <a:p>
            <a:pPr>
              <a:spcAft>
                <a:spcPts val="800"/>
              </a:spcAft>
              <a:defRPr sz="1400" b="1">
                <a:solidFill>
                  <a:srgbClr val="10B981"/>
                </a:solidFill>
              </a:defRPr>
            </a:pPr>
            <a:r>
              <a:t>Automated Medication Reminder Engine</a:t>
            </a:r>
          </a:p>
          <a:p>
            <a:pPr>
              <a:spcAft>
                <a:spcPts val="600"/>
              </a:spcAft>
              <a:defRPr sz="1000" b="1">
                <a:solidFill>
                  <a:srgbClr val="0F172A"/>
                </a:solidFill>
              </a:defRPr>
            </a:pPr>
            <a:r>
              <a:t>✔ Adherence Crisis Solved: </a:t>
            </a:r>
            <a:r>
              <a:rPr b="0">
                <a:solidFill>
                  <a:srgbClr val="1E293B"/>
                </a:solidFill>
              </a:rPr>
              <a:t>Over 50% of treatment failures are caused by patients forgetting medication routines. CarePulse AI automates active reminder alerts.</a:t>
            </a:r>
          </a:p>
          <a:p>
            <a:pPr>
              <a:spcAft>
                <a:spcPts val="600"/>
              </a:spcAft>
              <a:defRPr sz="1000" b="1">
                <a:solidFill>
                  <a:srgbClr val="0F172A"/>
                </a:solidFill>
              </a:defRPr>
            </a:pPr>
            <a:r>
              <a:t>✔ Circadian Routine Windows: </a:t>
            </a:r>
            <a:r>
              <a:rPr b="0">
                <a:solidFill>
                  <a:srgbClr val="1E293B"/>
                </a:solidFill>
              </a:rPr>
              <a:t>Pre-configured dosage windows:
- Morning Dose: 08:00 AM (Post-Breakfast)
- Afternoon Dose: 01:00 PM (Post-Lunch)
- Night Dose: 08:30 PM (Post-Dinner)</a:t>
            </a:r>
          </a:p>
          <a:p>
            <a:pPr>
              <a:spcAft>
                <a:spcPts val="600"/>
              </a:spcAft>
              <a:defRPr sz="1000" b="1">
                <a:solidFill>
                  <a:srgbClr val="0F172A"/>
                </a:solidFill>
              </a:defRPr>
            </a:pPr>
            <a:r>
              <a:t>✔ Multi-Channel Notification Dispatch: </a:t>
            </a:r>
            <a:r>
              <a:rPr b="0">
                <a:solidFill>
                  <a:srgbClr val="1E293B"/>
                </a:solidFill>
              </a:rPr>
              <a:t>Notification engine supporting WhatsApp, SMS, and Email delivery templates with dosage instructions.</a:t>
            </a:r>
          </a:p>
          <a:p>
            <a:pPr>
              <a:spcAft>
                <a:spcPts val="600"/>
              </a:spcAft>
              <a:defRPr sz="1000" b="1">
                <a:solidFill>
                  <a:srgbClr val="0F172A"/>
                </a:solidFill>
              </a:defRPr>
            </a:pPr>
            <a:r>
              <a:t>✔ Interactive Simulation Console: </a:t>
            </a:r>
            <a:r>
              <a:rPr b="0">
                <a:solidFill>
                  <a:srgbClr val="1E293B"/>
                </a:solidFill>
              </a:rPr>
              <a:t>Includes an in-browser 'Send Test Alert' simulation engine enabling immediate verification of reminder triggers.</a:t>
            </a:r>
          </a:p>
          <a:p>
            <a:pPr>
              <a:spcAft>
                <a:spcPts val="600"/>
              </a:spcAft>
              <a:defRPr sz="1000" b="1">
                <a:solidFill>
                  <a:srgbClr val="0F172A"/>
                </a:solidFill>
              </a:defRPr>
            </a:pPr>
            <a:r>
              <a:t>✔ Compliance Auditing: </a:t>
            </a:r>
            <a:r>
              <a:rPr b="0">
                <a:solidFill>
                  <a:srgbClr val="1E293B"/>
                </a:solidFill>
              </a:rPr>
              <a:t>Logs dispatch history and acknowledgment status for physician adherence review during follow-ups.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1000" b="1">
                <a:solidFill>
                  <a:srgbClr val="0D9488"/>
                </a:solidFill>
              </a:defRPr>
            </a:pPr>
            <a:r>
              <a:t>HOSPITAL INTELLIGENCE</a:t>
            </a:r>
          </a:p>
        </p:txBody>
      </p:sp>
      <p:sp>
        <p:nvSpPr>
          <p:cNvPr id="4" name="TextBox 3"/>
          <p:cNvSpPr txBox="1"/>
          <p:nvPr/>
        </p:nvSpPr>
        <p:spPr>
          <a:xfrm>
            <a:off x="731520" y="658368"/>
            <a:ext cx="10515600" cy="548640"/>
          </a:xfrm>
          <a:prstGeom prst="rect">
            <a:avLst/>
          </a:prstGeom>
          <a:noFill/>
        </p:spPr>
        <p:txBody>
          <a:bodyPr wrap="square" lIns="0" tIns="0" rIns="0" bIns="0">
            <a:spAutoFit/>
          </a:bodyPr>
          <a:lstStyle/>
          <a:p>
            <a:pPr>
              <a:defRPr sz="2200" b="1">
                <a:solidFill>
                  <a:srgbClr val="0F172A"/>
                </a:solidFill>
              </a:defRPr>
            </a:pPr>
            <a:r>
              <a:t>Modules 8 &amp; 9: Hospital Analytics &amp; ML Inflow Predictor</a:t>
            </a:r>
          </a:p>
        </p:txBody>
      </p:sp>
      <p:sp>
        <p:nvSpPr>
          <p:cNvPr id="5" name="TextBox 4"/>
          <p:cNvSpPr txBox="1"/>
          <p:nvPr/>
        </p:nvSpPr>
        <p:spPr>
          <a:xfrm>
            <a:off x="731520" y="1234440"/>
            <a:ext cx="10515600" cy="365760"/>
          </a:xfrm>
          <a:prstGeom prst="rect">
            <a:avLst/>
          </a:prstGeom>
          <a:noFill/>
        </p:spPr>
        <p:txBody>
          <a:bodyPr wrap="square" lIns="0" tIns="0" rIns="0" bIns="0">
            <a:spAutoFit/>
          </a:bodyPr>
          <a:lstStyle/>
          <a:p>
            <a:pPr>
              <a:defRPr sz="1150">
                <a:solidFill>
                  <a:srgbClr val="64748B"/>
                </a:solidFill>
              </a:defRPr>
            </a:pPr>
            <a:r>
              <a:t>Scikit-learn Random Forest regression forecasting next-day patient demand and doctor roster staffing.</a:t>
            </a:r>
          </a:p>
        </p:txBody>
      </p:sp>
      <p:sp>
        <p:nvSpPr>
          <p:cNvPr id="6" name="Rounded Rectangle 5"/>
          <p:cNvSpPr/>
          <p:nvPr/>
        </p:nvSpPr>
        <p:spPr>
          <a:xfrm>
            <a:off x="731520" y="1737360"/>
            <a:ext cx="10744200" cy="1234440"/>
          </a:xfrm>
          <a:prstGeom prst="roundRect">
            <a:avLst/>
          </a:prstGeom>
          <a:solidFill>
            <a:srgbClr val="0F172A"/>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10378440" cy="1051560"/>
          </a:xfrm>
          <a:prstGeom prst="rect">
            <a:avLst/>
          </a:prstGeom>
          <a:noFill/>
        </p:spPr>
        <p:txBody>
          <a:bodyPr wrap="square">
            <a:spAutoFit/>
          </a:bodyPr>
          <a:lstStyle/>
          <a:p>
            <a:pPr>
              <a:defRPr sz="950" b="1">
                <a:solidFill>
                  <a:srgbClr val="06B6D4"/>
                </a:solidFill>
              </a:defRPr>
            </a:pPr>
            <a:r>
              <a:t>PREDICTIVE ML INFLOW TELEMETRY — TOMORROW'S FORECAST CALLOUTS</a:t>
            </a:r>
          </a:p>
        </p:txBody>
      </p:sp>
      <p:sp>
        <p:nvSpPr>
          <p:cNvPr id="8" name="TextBox 7"/>
          <p:cNvSpPr txBox="1"/>
          <p:nvPr/>
        </p:nvSpPr>
        <p:spPr>
          <a:xfrm>
            <a:off x="914400" y="2103120"/>
            <a:ext cx="3291840" cy="731520"/>
          </a:xfrm>
          <a:prstGeom prst="rect">
            <a:avLst/>
          </a:prstGeom>
          <a:noFill/>
        </p:spPr>
        <p:txBody>
          <a:bodyPr wrap="square">
            <a:spAutoFit/>
          </a:bodyPr>
          <a:lstStyle/>
          <a:p>
            <a:pPr>
              <a:defRPr sz="850" b="1">
                <a:solidFill>
                  <a:srgbClr val="0D9488"/>
                </a:solidFill>
              </a:defRPr>
            </a:pPr>
            <a:r>
              <a:t>CALLOUT 1: PREDICTED INFLOW</a:t>
            </a:r>
          </a:p>
          <a:p>
            <a:pPr>
              <a:defRPr sz="1300" b="1">
                <a:solidFill>
                  <a:srgbClr val="FFFFFF"/>
                </a:solidFill>
              </a:defRPr>
            </a:pPr>
            <a:r>
              <a:t>135 - 186 Patients</a:t>
            </a:r>
          </a:p>
          <a:p>
            <a:pPr>
              <a:defRPr sz="800">
                <a:solidFill>
                  <a:srgbClr val="94A3B8"/>
                </a:solidFill>
              </a:defRPr>
            </a:pPr>
            <a:r>
              <a:t>95% CI (MAE ±5.49 Patients)</a:t>
            </a:r>
          </a:p>
        </p:txBody>
      </p:sp>
      <p:sp>
        <p:nvSpPr>
          <p:cNvPr id="9" name="TextBox 8"/>
          <p:cNvSpPr txBox="1"/>
          <p:nvPr/>
        </p:nvSpPr>
        <p:spPr>
          <a:xfrm>
            <a:off x="4434840" y="2103120"/>
            <a:ext cx="3291840" cy="731520"/>
          </a:xfrm>
          <a:prstGeom prst="rect">
            <a:avLst/>
          </a:prstGeom>
          <a:noFill/>
        </p:spPr>
        <p:txBody>
          <a:bodyPr wrap="square">
            <a:spAutoFit/>
          </a:bodyPr>
          <a:lstStyle/>
          <a:p>
            <a:pPr>
              <a:defRPr sz="850" b="1">
                <a:solidFill>
                  <a:srgbClr val="0D9488"/>
                </a:solidFill>
              </a:defRPr>
            </a:pPr>
            <a:r>
              <a:t>CALLOUT 2: EXPECTED PEAK TIME</a:t>
            </a:r>
          </a:p>
          <a:p>
            <a:pPr>
              <a:defRPr sz="1300" b="1">
                <a:solidFill>
                  <a:srgbClr val="FFFFFF"/>
                </a:solidFill>
              </a:defRPr>
            </a:pPr>
            <a:r>
              <a:t>10:00 AM – 01:00 PM</a:t>
            </a:r>
          </a:p>
          <a:p>
            <a:pPr>
              <a:defRPr sz="800">
                <a:solidFill>
                  <a:srgbClr val="94A3B8"/>
                </a:solidFill>
              </a:defRPr>
            </a:pPr>
            <a:r>
              <a:t>Peak Triage &amp; Queue Surge Window</a:t>
            </a:r>
          </a:p>
        </p:txBody>
      </p:sp>
      <p:sp>
        <p:nvSpPr>
          <p:cNvPr id="10" name="TextBox 9"/>
          <p:cNvSpPr txBox="1"/>
          <p:nvPr/>
        </p:nvSpPr>
        <p:spPr>
          <a:xfrm>
            <a:off x="7955279" y="2103120"/>
            <a:ext cx="3291840" cy="731520"/>
          </a:xfrm>
          <a:prstGeom prst="rect">
            <a:avLst/>
          </a:prstGeom>
          <a:noFill/>
        </p:spPr>
        <p:txBody>
          <a:bodyPr wrap="square">
            <a:spAutoFit/>
          </a:bodyPr>
          <a:lstStyle/>
          <a:p>
            <a:pPr>
              <a:defRPr sz="850" b="1">
                <a:solidFill>
                  <a:srgbClr val="0D9488"/>
                </a:solidFill>
              </a:defRPr>
            </a:pPr>
            <a:r>
              <a:t>CALLOUT 3: HIGHEST DEMAND DEPT</a:t>
            </a:r>
          </a:p>
          <a:p>
            <a:pPr>
              <a:defRPr sz="1300" b="1">
                <a:solidFill>
                  <a:srgbClr val="FFFFFF"/>
                </a:solidFill>
              </a:defRPr>
            </a:pPr>
            <a:r>
              <a:t>Cardiology &amp; General Medicine</a:t>
            </a:r>
          </a:p>
          <a:p>
            <a:pPr>
              <a:defRPr sz="800">
                <a:solidFill>
                  <a:srgbClr val="94A3B8"/>
                </a:solidFill>
              </a:defRPr>
            </a:pPr>
            <a:r>
              <a:t>28% Share of Total Footfall</a:t>
            </a:r>
          </a:p>
        </p:txBody>
      </p:sp>
      <p:sp>
        <p:nvSpPr>
          <p:cNvPr id="11" name="Rounded Rectangle 10"/>
          <p:cNvSpPr/>
          <p:nvPr/>
        </p:nvSpPr>
        <p:spPr>
          <a:xfrm>
            <a:off x="731520" y="3154680"/>
            <a:ext cx="5257800" cy="3063240"/>
          </a:xfrm>
          <a:prstGeom prst="roundRect">
            <a:avLst/>
          </a:prstGeom>
          <a:solidFill>
            <a:srgbClr val="F8FAFC"/>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291840"/>
            <a:ext cx="4892040" cy="2743200"/>
          </a:xfrm>
          <a:prstGeom prst="rect">
            <a:avLst/>
          </a:prstGeom>
          <a:noFill/>
        </p:spPr>
        <p:txBody>
          <a:bodyPr wrap="square">
            <a:spAutoFit/>
          </a:bodyPr>
          <a:lstStyle/>
          <a:p>
            <a:pPr>
              <a:spcAft>
                <a:spcPts val="600"/>
              </a:spcAft>
              <a:defRPr sz="1300" b="1">
                <a:solidFill>
                  <a:srgbClr val="D97706"/>
                </a:solidFill>
              </a:defRPr>
            </a:pPr>
            <a:r>
              <a:t>Scikit-Learn ML Model &amp; Doctor Allocation</a:t>
            </a:r>
          </a:p>
          <a:p>
            <a:pPr>
              <a:spcAft>
                <a:spcPts val="400"/>
              </a:spcAft>
              <a:defRPr sz="950" b="1">
                <a:solidFill>
                  <a:srgbClr val="0F172A"/>
                </a:solidFill>
              </a:defRPr>
            </a:pPr>
            <a:r>
              <a:t>• Algorithm: </a:t>
            </a:r>
            <a:r>
              <a:rPr b="0">
                <a:solidFill>
                  <a:srgbClr val="1E293B"/>
                </a:solidFill>
              </a:rPr>
              <a:t>RandomForestRegressor (120 Estimators, Max Depth 8)</a:t>
            </a:r>
          </a:p>
          <a:p>
            <a:pPr>
              <a:spcAft>
                <a:spcPts val="400"/>
              </a:spcAft>
              <a:defRPr sz="950" b="1">
                <a:solidFill>
                  <a:srgbClr val="0F172A"/>
                </a:solidFill>
              </a:defRPr>
            </a:pPr>
            <a:r>
              <a:t>• Accuracy / Fit: </a:t>
            </a:r>
            <a:r>
              <a:rPr b="0">
                <a:solidFill>
                  <a:srgbClr val="1E293B"/>
                </a:solidFill>
              </a:rPr>
              <a:t>R² Score = 0.927 (92.7% Precision against historical validation data)</a:t>
            </a:r>
          </a:p>
          <a:p>
            <a:pPr>
              <a:spcAft>
                <a:spcPts val="400"/>
              </a:spcAft>
              <a:defRPr sz="950" b="1">
                <a:solidFill>
                  <a:srgbClr val="0F172A"/>
                </a:solidFill>
              </a:defRPr>
            </a:pPr>
            <a:r>
              <a:t>• Features Evaluated: </a:t>
            </a:r>
            <a:r>
              <a:rPr b="0">
                <a:solidFill>
                  <a:srgbClr val="1E293B"/>
                </a:solidFill>
              </a:rPr>
              <a:t>Day of Week, Holiday Flag, Month, Season, Lag-1 Count, 7-Day Moving Avg</a:t>
            </a:r>
          </a:p>
          <a:p>
            <a:pPr>
              <a:spcAft>
                <a:spcPts val="400"/>
              </a:spcAft>
              <a:defRPr sz="950" b="1">
                <a:solidFill>
                  <a:srgbClr val="0F172A"/>
                </a:solidFill>
              </a:defRPr>
            </a:pPr>
            <a:r>
              <a:t>• Doctor Roster Allocation: </a:t>
            </a:r>
            <a:r>
              <a:rPr b="0">
                <a:solidFill>
                  <a:srgbClr val="1E293B"/>
                </a:solidFill>
              </a:rPr>
              <a:t>Calculates required on-duty doctors per specialty based on 14 patients/doctor ratio: Cardiology (3), Gen Med (3), Ortho (2), Neuro (2), Derm (1).</a:t>
            </a:r>
          </a:p>
        </p:txBody>
      </p:sp>
      <p:sp>
        <p:nvSpPr>
          <p:cNvPr id="13" name="Rounded Rectangle 12"/>
          <p:cNvSpPr/>
          <p:nvPr/>
        </p:nvSpPr>
        <p:spPr>
          <a:xfrm>
            <a:off x="6217920" y="3154680"/>
            <a:ext cx="5257800" cy="3063240"/>
          </a:xfrm>
          <a:prstGeom prst="roundRect">
            <a:avLst/>
          </a:prstGeom>
          <a:solidFill>
            <a:srgbClr val="F8FAFC"/>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3291840"/>
            <a:ext cx="4892040" cy="2743200"/>
          </a:xfrm>
          <a:prstGeom prst="rect">
            <a:avLst/>
          </a:prstGeom>
          <a:noFill/>
        </p:spPr>
        <p:txBody>
          <a:bodyPr wrap="square">
            <a:spAutoFit/>
          </a:bodyPr>
          <a:lstStyle/>
          <a:p>
            <a:pPr>
              <a:spcAft>
                <a:spcPts val="600"/>
              </a:spcAft>
              <a:defRPr sz="1300" b="1">
                <a:solidFill>
                  <a:srgbClr val="0284C7"/>
                </a:solidFill>
              </a:defRPr>
            </a:pPr>
            <a:r>
              <a:t>Hospital Analytics &amp; 4 Chart.js Views</a:t>
            </a:r>
          </a:p>
          <a:p>
            <a:pPr>
              <a:spcAft>
                <a:spcPts val="300"/>
              </a:spcAft>
              <a:defRPr sz="950" b="1">
                <a:solidFill>
                  <a:srgbClr val="0F172A"/>
                </a:solidFill>
              </a:defRPr>
            </a:pPr>
            <a:r>
              <a:t>✔ Chart 1: Line Chart: </a:t>
            </a:r>
            <a:r>
              <a:rPr b="0">
                <a:solidFill>
                  <a:srgbClr val="1E293B"/>
                </a:solidFill>
              </a:rPr>
              <a:t>30-Day Patient Volume Dynamics (Total vs Online Telehealth vs Physical OPD).</a:t>
            </a:r>
          </a:p>
          <a:p>
            <a:pPr>
              <a:spcAft>
                <a:spcPts val="300"/>
              </a:spcAft>
              <a:defRPr sz="950" b="1">
                <a:solidFill>
                  <a:srgbClr val="0F172A"/>
                </a:solidFill>
              </a:defRPr>
            </a:pPr>
            <a:r>
              <a:t>✔ Chart 2: Doughnut Chart: </a:t>
            </a:r>
            <a:r>
              <a:rPr b="0">
                <a:solidFill>
                  <a:srgbClr val="1E293B"/>
                </a:solidFill>
              </a:rPr>
              <a:t>Department-wise Consultation Share across 8 medical specialties.</a:t>
            </a:r>
          </a:p>
          <a:p>
            <a:pPr>
              <a:spcAft>
                <a:spcPts val="300"/>
              </a:spcAft>
              <a:defRPr sz="950" b="1">
                <a:solidFill>
                  <a:srgbClr val="0F172A"/>
                </a:solidFill>
              </a:defRPr>
            </a:pPr>
            <a:r>
              <a:t>✔ Chart 3: Bar Chart: </a:t>
            </a:r>
            <a:r>
              <a:rPr b="0">
                <a:solidFill>
                  <a:srgbClr val="1E293B"/>
                </a:solidFill>
              </a:rPr>
              <a:t>Monthly Revenue &amp; Patient Volume Comparison across consecutive quarters.</a:t>
            </a:r>
          </a:p>
          <a:p>
            <a:pPr>
              <a:spcAft>
                <a:spcPts val="300"/>
              </a:spcAft>
              <a:defRPr sz="950" b="1">
                <a:solidFill>
                  <a:srgbClr val="0F172A"/>
                </a:solidFill>
              </a:defRPr>
            </a:pPr>
            <a:r>
              <a:t>✔ Chart 4: Area Chart: </a:t>
            </a:r>
            <a:r>
              <a:rPr b="0">
                <a:solidFill>
                  <a:srgbClr val="1E293B"/>
                </a:solidFill>
              </a:rPr>
              <a:t>Daily Patient Volume vs Total Doctor Roster Capacity Ceiling.</a:t>
            </a:r>
          </a:p>
          <a:p>
            <a:pPr>
              <a:spcAft>
                <a:spcPts val="300"/>
              </a:spcAft>
              <a:defRPr sz="950" b="1">
                <a:solidFill>
                  <a:srgbClr val="0F172A"/>
                </a:solidFill>
              </a:defRPr>
            </a:pPr>
            <a:r>
              <a:t>✔ Consultation Funnel: </a:t>
            </a:r>
            <a:r>
              <a:rPr b="0">
                <a:solidFill>
                  <a:srgbClr val="1E293B"/>
                </a:solidFill>
              </a:rPr>
              <a:t>Booked (100%) → Confirmed → In Consultation → Completed → Prescribed.</a:t>
            </a:r>
          </a:p>
          <a:p>
            <a:pPr>
              <a:spcAft>
                <a:spcPts val="300"/>
              </a:spcAft>
              <a:defRPr sz="950" b="1">
                <a:solidFill>
                  <a:srgbClr val="0F172A"/>
                </a:solidFill>
              </a:defRPr>
            </a:pPr>
            <a:r>
              <a:t>✔ Cancellation Rate: </a:t>
            </a:r>
            <a:r>
              <a:rPr b="0">
                <a:solidFill>
                  <a:srgbClr val="1E293B"/>
                </a:solidFill>
              </a:rPr>
              <a:t>Tracks cancellation % against the industry benchmark (&lt; 8.5%).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1000" b="1">
                <a:solidFill>
                  <a:srgbClr val="0D9488"/>
                </a:solidFill>
              </a:defRPr>
            </a:pPr>
            <a:r>
              <a:t>SECURITY &amp; COMPLIANCE</a:t>
            </a:r>
          </a:p>
        </p:txBody>
      </p:sp>
      <p:sp>
        <p:nvSpPr>
          <p:cNvPr id="4" name="TextBox 3"/>
          <p:cNvSpPr txBox="1"/>
          <p:nvPr/>
        </p:nvSpPr>
        <p:spPr>
          <a:xfrm>
            <a:off x="731520" y="658368"/>
            <a:ext cx="10515600" cy="548640"/>
          </a:xfrm>
          <a:prstGeom prst="rect">
            <a:avLst/>
          </a:prstGeom>
          <a:noFill/>
        </p:spPr>
        <p:txBody>
          <a:bodyPr wrap="square" lIns="0" tIns="0" rIns="0" bIns="0">
            <a:spAutoFit/>
          </a:bodyPr>
          <a:lstStyle/>
          <a:p>
            <a:pPr>
              <a:defRPr sz="2200" b="1">
                <a:solidFill>
                  <a:srgbClr val="0F172A"/>
                </a:solidFill>
              </a:defRPr>
            </a:pPr>
            <a:r>
              <a:t>Enterprise Security Architecture &amp; OWASP Standards</a:t>
            </a:r>
          </a:p>
        </p:txBody>
      </p:sp>
      <p:sp>
        <p:nvSpPr>
          <p:cNvPr id="5" name="TextBox 4"/>
          <p:cNvSpPr txBox="1"/>
          <p:nvPr/>
        </p:nvSpPr>
        <p:spPr>
          <a:xfrm>
            <a:off x="731520" y="1234440"/>
            <a:ext cx="10515600" cy="365760"/>
          </a:xfrm>
          <a:prstGeom prst="rect">
            <a:avLst/>
          </a:prstGeom>
          <a:noFill/>
        </p:spPr>
        <p:txBody>
          <a:bodyPr wrap="square" lIns="0" tIns="0" rIns="0" bIns="0">
            <a:spAutoFit/>
          </a:bodyPr>
          <a:lstStyle/>
          <a:p>
            <a:pPr>
              <a:defRPr sz="1150">
                <a:solidFill>
                  <a:srgbClr val="64748B"/>
                </a:solidFill>
              </a:defRPr>
            </a:pPr>
            <a:r>
              <a:t>Robust defense-in-depth security protecting sensitive patient health information.</a:t>
            </a:r>
          </a:p>
        </p:txBody>
      </p:sp>
      <p:sp>
        <p:nvSpPr>
          <p:cNvPr id="6" name="Rounded Rectangle 5"/>
          <p:cNvSpPr/>
          <p:nvPr/>
        </p:nvSpPr>
        <p:spPr>
          <a:xfrm>
            <a:off x="731520" y="1737360"/>
            <a:ext cx="3474720" cy="2103120"/>
          </a:xfrm>
          <a:prstGeom prst="roundRect">
            <a:avLst/>
          </a:prstGeom>
          <a:solidFill>
            <a:srgbClr val="F8FAFC"/>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01952"/>
            <a:ext cx="3108960" cy="1783080"/>
          </a:xfrm>
          <a:prstGeom prst="rect">
            <a:avLst/>
          </a:prstGeom>
          <a:noFill/>
        </p:spPr>
        <p:txBody>
          <a:bodyPr wrap="square">
            <a:spAutoFit/>
          </a:bodyPr>
          <a:lstStyle/>
          <a:p>
            <a:pPr>
              <a:spcAft>
                <a:spcPts val="600"/>
              </a:spcAft>
              <a:defRPr sz="1150" b="1">
                <a:solidFill>
                  <a:srgbClr val="0D9488"/>
                </a:solidFill>
              </a:defRPr>
            </a:pPr>
            <a:r>
              <a:t>1. SQL Injection Prevention</a:t>
            </a:r>
          </a:p>
          <a:p>
            <a:pPr>
              <a:spcAft>
                <a:spcPts val="300"/>
              </a:spcAft>
              <a:defRPr sz="950">
                <a:solidFill>
                  <a:srgbClr val="1E293B"/>
                </a:solidFill>
              </a:defRPr>
            </a:pPr>
            <a:r>
              <a:t>• 100% Parameterized Prepared Statements via PHP PDO.</a:t>
            </a:r>
          </a:p>
          <a:p>
            <a:pPr>
              <a:spcAft>
                <a:spcPts val="300"/>
              </a:spcAft>
              <a:defRPr sz="950">
                <a:solidFill>
                  <a:srgbClr val="1E293B"/>
                </a:solidFill>
              </a:defRPr>
            </a:pPr>
            <a:r>
              <a:t>• Emulated prepared statements disabled (PDO::ATTR_EMULATE_PREPARES =&gt; false).</a:t>
            </a:r>
          </a:p>
          <a:p>
            <a:pPr>
              <a:spcAft>
                <a:spcPts val="300"/>
              </a:spcAft>
              <a:defRPr sz="950">
                <a:solidFill>
                  <a:srgbClr val="1E293B"/>
                </a:solidFill>
              </a:defRPr>
            </a:pPr>
            <a:r>
              <a:t>• Raw string concatenation strictly forbidden across all queries.</a:t>
            </a:r>
          </a:p>
        </p:txBody>
      </p:sp>
      <p:sp>
        <p:nvSpPr>
          <p:cNvPr id="8" name="Rounded Rectangle 7"/>
          <p:cNvSpPr/>
          <p:nvPr/>
        </p:nvSpPr>
        <p:spPr>
          <a:xfrm>
            <a:off x="4343400" y="1737360"/>
            <a:ext cx="3474720" cy="2103120"/>
          </a:xfrm>
          <a:prstGeom prst="roundRect">
            <a:avLst/>
          </a:prstGeom>
          <a:solidFill>
            <a:srgbClr val="F8FAFC"/>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1901952"/>
            <a:ext cx="3108960" cy="1783080"/>
          </a:xfrm>
          <a:prstGeom prst="rect">
            <a:avLst/>
          </a:prstGeom>
          <a:noFill/>
        </p:spPr>
        <p:txBody>
          <a:bodyPr wrap="square">
            <a:spAutoFit/>
          </a:bodyPr>
          <a:lstStyle/>
          <a:p>
            <a:pPr>
              <a:spcAft>
                <a:spcPts val="600"/>
              </a:spcAft>
              <a:defRPr sz="1150" b="1">
                <a:solidFill>
                  <a:srgbClr val="0284C7"/>
                </a:solidFill>
              </a:defRPr>
            </a:pPr>
            <a:r>
              <a:t>2. Cross-Site Request Forgery (CSRF)</a:t>
            </a:r>
          </a:p>
          <a:p>
            <a:pPr>
              <a:spcAft>
                <a:spcPts val="300"/>
              </a:spcAft>
              <a:defRPr sz="950">
                <a:solidFill>
                  <a:srgbClr val="1E293B"/>
                </a:solidFill>
              </a:defRPr>
            </a:pPr>
            <a:r>
              <a:t>• Cryptographic 32-byte tokens generated via random_bytes(32).</a:t>
            </a:r>
          </a:p>
          <a:p>
            <a:pPr>
              <a:spcAft>
                <a:spcPts val="300"/>
              </a:spcAft>
              <a:defRPr sz="950">
                <a:solidFill>
                  <a:srgbClr val="1E293B"/>
                </a:solidFill>
              </a:defRPr>
            </a:pPr>
            <a:r>
              <a:t>• Enforced on all state-mutating requests (POST, PUT, DELETE).</a:t>
            </a:r>
          </a:p>
          <a:p>
            <a:pPr>
              <a:spcAft>
                <a:spcPts val="300"/>
              </a:spcAft>
              <a:defRPr sz="950">
                <a:solidFill>
                  <a:srgbClr val="1E293B"/>
                </a:solidFill>
              </a:defRPr>
            </a:pPr>
            <a:r>
              <a:t>• Dual transport: Injected into hidden form inputs and X-CSRF-Token headers.</a:t>
            </a:r>
          </a:p>
        </p:txBody>
      </p:sp>
      <p:sp>
        <p:nvSpPr>
          <p:cNvPr id="10" name="Rounded Rectangle 9"/>
          <p:cNvSpPr/>
          <p:nvPr/>
        </p:nvSpPr>
        <p:spPr>
          <a:xfrm>
            <a:off x="7955280" y="1737360"/>
            <a:ext cx="3474720" cy="2103120"/>
          </a:xfrm>
          <a:prstGeom prst="roundRect">
            <a:avLst/>
          </a:prstGeom>
          <a:solidFill>
            <a:srgbClr val="F8FAFC"/>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38160" y="1901952"/>
            <a:ext cx="3108960" cy="1783080"/>
          </a:xfrm>
          <a:prstGeom prst="rect">
            <a:avLst/>
          </a:prstGeom>
          <a:noFill/>
        </p:spPr>
        <p:txBody>
          <a:bodyPr wrap="square">
            <a:spAutoFit/>
          </a:bodyPr>
          <a:lstStyle/>
          <a:p>
            <a:pPr>
              <a:spcAft>
                <a:spcPts val="600"/>
              </a:spcAft>
              <a:defRPr sz="1150" b="1">
                <a:solidFill>
                  <a:srgbClr val="0F172A"/>
                </a:solidFill>
              </a:defRPr>
            </a:pPr>
            <a:r>
              <a:t>3. BCRYPT Password Hashing &amp; RBAC</a:t>
            </a:r>
          </a:p>
          <a:p>
            <a:pPr>
              <a:spcAft>
                <a:spcPts val="300"/>
              </a:spcAft>
              <a:defRPr sz="950">
                <a:solidFill>
                  <a:srgbClr val="1E293B"/>
                </a:solidFill>
              </a:defRPr>
            </a:pPr>
            <a:r>
              <a:t>• Passwords hashed using PASSWORD_BCRYPT with cost factor 10.</a:t>
            </a:r>
          </a:p>
          <a:p>
            <a:pPr>
              <a:spcAft>
                <a:spcPts val="300"/>
              </a:spcAft>
              <a:defRPr sz="950">
                <a:solidFill>
                  <a:srgbClr val="1E293B"/>
                </a:solidFill>
              </a:defRPr>
            </a:pPr>
            <a:r>
              <a:t>• Constant-time hash comparison prevents timing side-channel attacks.</a:t>
            </a:r>
          </a:p>
          <a:p>
            <a:pPr>
              <a:spcAft>
                <a:spcPts val="300"/>
              </a:spcAft>
              <a:defRPr sz="950">
                <a:solidFill>
                  <a:srgbClr val="1E293B"/>
                </a:solidFill>
              </a:defRPr>
            </a:pPr>
            <a:r>
              <a:t>• Strict session-based RBAC prevents horizontal and vertical privilege escalation.</a:t>
            </a:r>
          </a:p>
        </p:txBody>
      </p:sp>
      <p:sp>
        <p:nvSpPr>
          <p:cNvPr id="12" name="Rounded Rectangle 11"/>
          <p:cNvSpPr/>
          <p:nvPr/>
        </p:nvSpPr>
        <p:spPr>
          <a:xfrm>
            <a:off x="731520" y="4023360"/>
            <a:ext cx="3474720" cy="2103120"/>
          </a:xfrm>
          <a:prstGeom prst="roundRect">
            <a:avLst/>
          </a:prstGeom>
          <a:solidFill>
            <a:srgbClr val="F8FAFC"/>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187952"/>
            <a:ext cx="3108960" cy="1783080"/>
          </a:xfrm>
          <a:prstGeom prst="rect">
            <a:avLst/>
          </a:prstGeom>
          <a:noFill/>
        </p:spPr>
        <p:txBody>
          <a:bodyPr wrap="square">
            <a:spAutoFit/>
          </a:bodyPr>
          <a:lstStyle/>
          <a:p>
            <a:pPr>
              <a:spcAft>
                <a:spcPts val="600"/>
              </a:spcAft>
              <a:defRPr sz="1150" b="1">
                <a:solidFill>
                  <a:srgbClr val="D97706"/>
                </a:solidFill>
              </a:defRPr>
            </a:pPr>
            <a:r>
              <a:t>4. Strict File MIME Validation &amp; Vault</a:t>
            </a:r>
          </a:p>
          <a:p>
            <a:pPr>
              <a:spcAft>
                <a:spcPts val="300"/>
              </a:spcAft>
              <a:defRPr sz="950">
                <a:solidFill>
                  <a:srgbClr val="1E293B"/>
                </a:solidFill>
              </a:defRPr>
            </a:pPr>
            <a:r>
              <a:t>• Upload validation relies on server-side PHP finfo inspecting file headers, not spoofable file extensions.</a:t>
            </a:r>
          </a:p>
          <a:p>
            <a:pPr>
              <a:spcAft>
                <a:spcPts val="300"/>
              </a:spcAft>
              <a:defRPr sz="950">
                <a:solidFill>
                  <a:srgbClr val="1E293B"/>
                </a:solidFill>
              </a:defRPr>
            </a:pPr>
            <a:r>
              <a:t>• Cryptographic random hex filenames (bin2hex(random_bytes(16))).</a:t>
            </a:r>
          </a:p>
          <a:p>
            <a:pPr>
              <a:spcAft>
                <a:spcPts val="300"/>
              </a:spcAft>
              <a:defRPr sz="950">
                <a:solidFill>
                  <a:srgbClr val="1E293B"/>
                </a:solidFill>
              </a:defRPr>
            </a:pPr>
            <a:r>
              <a:t>• Direct script execution disabled in upload directory via .htaccess.</a:t>
            </a:r>
          </a:p>
        </p:txBody>
      </p:sp>
      <p:sp>
        <p:nvSpPr>
          <p:cNvPr id="14" name="Rounded Rectangle 13"/>
          <p:cNvSpPr/>
          <p:nvPr/>
        </p:nvSpPr>
        <p:spPr>
          <a:xfrm>
            <a:off x="4343400" y="4023360"/>
            <a:ext cx="3474720" cy="2103120"/>
          </a:xfrm>
          <a:prstGeom prst="roundRect">
            <a:avLst/>
          </a:prstGeom>
          <a:solidFill>
            <a:srgbClr val="F8FAFC"/>
          </a:solidFill>
          <a:ln w="1270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26280" y="4187952"/>
            <a:ext cx="3108960" cy="1783080"/>
          </a:xfrm>
          <a:prstGeom prst="rect">
            <a:avLst/>
          </a:prstGeom>
          <a:noFill/>
        </p:spPr>
        <p:txBody>
          <a:bodyPr wrap="square">
            <a:spAutoFit/>
          </a:bodyPr>
          <a:lstStyle/>
          <a:p>
            <a:pPr>
              <a:spcAft>
                <a:spcPts val="600"/>
              </a:spcAft>
              <a:defRPr sz="1150" b="1">
                <a:solidFill>
                  <a:srgbClr val="E11D48"/>
                </a:solidFill>
              </a:defRPr>
            </a:pPr>
            <a:r>
              <a:t>5. Session Security &amp; Rate Limiting</a:t>
            </a:r>
          </a:p>
          <a:p>
            <a:pPr>
              <a:spcAft>
                <a:spcPts val="300"/>
              </a:spcAft>
              <a:defRPr sz="950">
                <a:solidFill>
                  <a:srgbClr val="1E293B"/>
                </a:solidFill>
              </a:defRPr>
            </a:pPr>
            <a:r>
              <a:t>• session_regenerate_id(true) executed on login to eliminate session fixation.</a:t>
            </a:r>
          </a:p>
          <a:p>
            <a:pPr>
              <a:spcAft>
                <a:spcPts val="300"/>
              </a:spcAft>
              <a:defRPr sz="950">
                <a:solidFill>
                  <a:srgbClr val="1E293B"/>
                </a:solidFill>
              </a:defRPr>
            </a:pPr>
            <a:r>
              <a:t>• HttpOnly cookies prevent malicious JavaScript access to session tokens.</a:t>
            </a:r>
          </a:p>
          <a:p>
            <a:pPr>
              <a:spcAft>
                <a:spcPts val="300"/>
              </a:spcAft>
              <a:defRPr sz="950">
                <a:solidFill>
                  <a:srgbClr val="1E293B"/>
                </a:solidFill>
              </a:defRPr>
            </a:pPr>
            <a:r>
              <a:t>• Built-in IP/Session rate limiters prevent brute-force attacks on login and OTP.</a:t>
            </a:r>
          </a:p>
        </p:txBody>
      </p:sp>
      <p:sp>
        <p:nvSpPr>
          <p:cNvPr id="16" name="Rounded Rectangle 15"/>
          <p:cNvSpPr/>
          <p:nvPr/>
        </p:nvSpPr>
        <p:spPr>
          <a:xfrm>
            <a:off x="7955280" y="4023360"/>
            <a:ext cx="3474720" cy="2103120"/>
          </a:xfrm>
          <a:prstGeom prst="roundRect">
            <a:avLst/>
          </a:prstGeom>
          <a:solidFill>
            <a:srgbClr val="F8FAFC"/>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38160" y="4187952"/>
            <a:ext cx="3108960" cy="1783080"/>
          </a:xfrm>
          <a:prstGeom prst="rect">
            <a:avLst/>
          </a:prstGeom>
          <a:noFill/>
        </p:spPr>
        <p:txBody>
          <a:bodyPr wrap="square">
            <a:spAutoFit/>
          </a:bodyPr>
          <a:lstStyle/>
          <a:p>
            <a:pPr>
              <a:spcAft>
                <a:spcPts val="600"/>
              </a:spcAft>
              <a:defRPr sz="1150" b="1">
                <a:solidFill>
                  <a:srgbClr val="10B981"/>
                </a:solidFill>
              </a:defRPr>
            </a:pPr>
            <a:r>
              <a:t>6. Email OTP 2FA Verification</a:t>
            </a:r>
          </a:p>
          <a:p>
            <a:pPr>
              <a:spcAft>
                <a:spcPts val="300"/>
              </a:spcAft>
              <a:defRPr sz="950">
                <a:solidFill>
                  <a:srgbClr val="1E293B"/>
                </a:solidFill>
              </a:defRPr>
            </a:pPr>
            <a:r>
              <a:t>• 6-digit time-bound one-time passwords for patient registration and password recovery.</a:t>
            </a:r>
          </a:p>
          <a:p>
            <a:pPr>
              <a:spcAft>
                <a:spcPts val="300"/>
              </a:spcAft>
              <a:defRPr sz="950">
                <a:solidFill>
                  <a:srgbClr val="1E293B"/>
                </a:solidFill>
              </a:defRPr>
            </a:pPr>
            <a:r>
              <a:t>• Cryptographically hashed OTP storage with strict 10-minute expiry windows.</a:t>
            </a:r>
          </a:p>
          <a:p>
            <a:pPr>
              <a:spcAft>
                <a:spcPts val="300"/>
              </a:spcAft>
              <a:defRPr sz="950">
                <a:solidFill>
                  <a:srgbClr val="1E293B"/>
                </a:solidFill>
              </a:defRPr>
            </a:pPr>
            <a:r>
              <a:t>• Automatic invalidation upon successful verification or expiry.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1000" b="1">
                <a:solidFill>
                  <a:srgbClr val="0D9488"/>
                </a:solidFill>
              </a:defRPr>
            </a:pPr>
            <a:r>
              <a:t>LIVE DEMONSTRATION</a:t>
            </a:r>
          </a:p>
        </p:txBody>
      </p:sp>
      <p:sp>
        <p:nvSpPr>
          <p:cNvPr id="4" name="TextBox 3"/>
          <p:cNvSpPr txBox="1"/>
          <p:nvPr/>
        </p:nvSpPr>
        <p:spPr>
          <a:xfrm>
            <a:off x="731520" y="658368"/>
            <a:ext cx="10515600" cy="548640"/>
          </a:xfrm>
          <a:prstGeom prst="rect">
            <a:avLst/>
          </a:prstGeom>
          <a:noFill/>
        </p:spPr>
        <p:txBody>
          <a:bodyPr wrap="square" lIns="0" tIns="0" rIns="0" bIns="0">
            <a:spAutoFit/>
          </a:bodyPr>
          <a:lstStyle/>
          <a:p>
            <a:pPr>
              <a:defRPr sz="2200" b="1">
                <a:solidFill>
                  <a:srgbClr val="0F172A"/>
                </a:solidFill>
              </a:defRPr>
            </a:pPr>
            <a:r>
              <a:t>System Evaluation Guide &amp; 1-Click Verification</a:t>
            </a:r>
          </a:p>
        </p:txBody>
      </p:sp>
      <p:sp>
        <p:nvSpPr>
          <p:cNvPr id="5" name="TextBox 4"/>
          <p:cNvSpPr txBox="1"/>
          <p:nvPr/>
        </p:nvSpPr>
        <p:spPr>
          <a:xfrm>
            <a:off x="731520" y="1234440"/>
            <a:ext cx="10515600" cy="365760"/>
          </a:xfrm>
          <a:prstGeom prst="rect">
            <a:avLst/>
          </a:prstGeom>
          <a:noFill/>
        </p:spPr>
        <p:txBody>
          <a:bodyPr wrap="square" lIns="0" tIns="0" rIns="0" bIns="0">
            <a:spAutoFit/>
          </a:bodyPr>
          <a:lstStyle/>
          <a:p>
            <a:pPr>
              <a:defRPr sz="1150">
                <a:solidFill>
                  <a:srgbClr val="64748B"/>
                </a:solidFill>
              </a:defRPr>
            </a:pPr>
            <a:r>
              <a:t>Everything is deployed locally and ready for immediate, frictionless reviewer testing.</a:t>
            </a:r>
          </a:p>
        </p:txBody>
      </p:sp>
      <p:sp>
        <p:nvSpPr>
          <p:cNvPr id="6" name="Rounded Rectangle 5"/>
          <p:cNvSpPr/>
          <p:nvPr/>
        </p:nvSpPr>
        <p:spPr>
          <a:xfrm>
            <a:off x="731520" y="1737360"/>
            <a:ext cx="10744200" cy="1005840"/>
          </a:xfrm>
          <a:prstGeom prst="roundRect">
            <a:avLst/>
          </a:prstGeom>
          <a:solidFill>
            <a:srgbClr val="F0FDFA"/>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10378440" cy="822960"/>
          </a:xfrm>
          <a:prstGeom prst="rect">
            <a:avLst/>
          </a:prstGeom>
          <a:noFill/>
        </p:spPr>
        <p:txBody>
          <a:bodyPr wrap="square">
            <a:spAutoFit/>
          </a:bodyPr>
          <a:lstStyle/>
          <a:p>
            <a:pPr>
              <a:defRPr sz="950" b="1">
                <a:solidFill>
                  <a:srgbClr val="0D9488"/>
                </a:solidFill>
              </a:defRPr>
            </a:pPr>
            <a:r>
              <a:t>SINGLE EVALUATION ACCESS URL (ALL PORTALS ACCESSIBLE HERE)</a:t>
            </a:r>
          </a:p>
          <a:p>
            <a:pPr>
              <a:defRPr sz="1800" b="1">
                <a:solidFill>
                  <a:srgbClr val="0F172A"/>
                </a:solidFill>
              </a:defRPr>
            </a:pPr>
            <a:r>
              <a:t>http://localhost/carepulse-ai/</a:t>
            </a:r>
          </a:p>
          <a:p>
            <a:pPr>
              <a:defRPr sz="950">
                <a:solidFill>
                  <a:srgbClr val="64748B"/>
                </a:solidFill>
              </a:defRPr>
            </a:pPr>
            <a:r>
              <a:t>The homepage contains the centralized Platform Command Center linking directly to all six destinations.</a:t>
            </a:r>
          </a:p>
        </p:txBody>
      </p:sp>
      <p:sp>
        <p:nvSpPr>
          <p:cNvPr id="8" name="Rounded Rectangle 7"/>
          <p:cNvSpPr/>
          <p:nvPr/>
        </p:nvSpPr>
        <p:spPr>
          <a:xfrm>
            <a:off x="731520" y="2926080"/>
            <a:ext cx="3474720" cy="3291840"/>
          </a:xfrm>
          <a:prstGeom prst="roundRect">
            <a:avLst/>
          </a:prstGeom>
          <a:solidFill>
            <a:srgbClr val="F8FAFC"/>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090672"/>
            <a:ext cx="3108960" cy="2971800"/>
          </a:xfrm>
          <a:prstGeom prst="rect">
            <a:avLst/>
          </a:prstGeom>
          <a:noFill/>
        </p:spPr>
        <p:txBody>
          <a:bodyPr wrap="square">
            <a:spAutoFit/>
          </a:bodyPr>
          <a:lstStyle/>
          <a:p>
            <a:pPr>
              <a:defRPr sz="1300" b="1">
                <a:solidFill>
                  <a:srgbClr val="0284C7"/>
                </a:solidFill>
              </a:defRPr>
            </a:pPr>
            <a:r>
              <a:t>Patient Portal Demo</a:t>
            </a:r>
          </a:p>
          <a:p>
            <a:pPr>
              <a:spcBef>
                <a:spcPts val="200"/>
              </a:spcBef>
              <a:spcAft>
                <a:spcPts val="800"/>
              </a:spcAft>
              <a:defRPr sz="950" b="1">
                <a:solidFill>
                  <a:srgbClr val="0F172A"/>
                </a:solidFill>
              </a:defRPr>
            </a:pPr>
            <a:r>
              <a:t>Email: patient@carepulse.ai</a:t>
            </a:r>
            <a:br/>
            <a:r>
              <a:t>Password: Password@123</a:t>
            </a:r>
          </a:p>
          <a:p>
            <a:pPr>
              <a:spcAft>
                <a:spcPts val="300"/>
              </a:spcAft>
              <a:defRPr sz="950">
                <a:solidFill>
                  <a:srgbClr val="1E293B"/>
                </a:solidFill>
              </a:defRPr>
            </a:pPr>
            <a:r>
              <a:t>1. Enter symptoms in AI Symptom Checker.</a:t>
            </a:r>
          </a:p>
          <a:p>
            <a:pPr>
              <a:spcAft>
                <a:spcPts val="300"/>
              </a:spcAft>
              <a:defRPr sz="950">
                <a:solidFill>
                  <a:srgbClr val="1E293B"/>
                </a:solidFill>
              </a:defRPr>
            </a:pPr>
            <a:r>
              <a:t>2. Book a real-time slot with Dr. Sharma.</a:t>
            </a:r>
          </a:p>
          <a:p>
            <a:pPr>
              <a:spcAft>
                <a:spcPts val="300"/>
              </a:spcAft>
              <a:defRPr sz="950">
                <a:solidFill>
                  <a:srgbClr val="1E293B"/>
                </a:solidFill>
              </a:defRPr>
            </a:pPr>
            <a:r>
              <a:t>3. Pay via simulated UPI QR or Card.</a:t>
            </a:r>
          </a:p>
          <a:p>
            <a:pPr>
              <a:spcAft>
                <a:spcPts val="300"/>
              </a:spcAft>
              <a:defRPr sz="950">
                <a:solidFill>
                  <a:srgbClr val="1E293B"/>
                </a:solidFill>
              </a:defRPr>
            </a:pPr>
            <a:r>
              <a:t>4. Track live queue position &amp; wait time.</a:t>
            </a:r>
          </a:p>
          <a:p>
            <a:pPr>
              <a:spcAft>
                <a:spcPts val="300"/>
              </a:spcAft>
              <a:defRPr sz="950">
                <a:solidFill>
                  <a:srgbClr val="1E293B"/>
                </a:solidFill>
              </a:defRPr>
            </a:pPr>
            <a:r>
              <a:t>5. Enter WebRTC room &amp; view Rx Vault.</a:t>
            </a:r>
          </a:p>
        </p:txBody>
      </p:sp>
      <p:sp>
        <p:nvSpPr>
          <p:cNvPr id="10" name="Rounded Rectangle 9"/>
          <p:cNvSpPr/>
          <p:nvPr/>
        </p:nvSpPr>
        <p:spPr>
          <a:xfrm>
            <a:off x="4343400" y="2926080"/>
            <a:ext cx="3474720" cy="3291840"/>
          </a:xfrm>
          <a:prstGeom prst="roundRect">
            <a:avLst/>
          </a:prstGeom>
          <a:solidFill>
            <a:srgbClr val="F8FAFC"/>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3090672"/>
            <a:ext cx="3108960" cy="2971800"/>
          </a:xfrm>
          <a:prstGeom prst="rect">
            <a:avLst/>
          </a:prstGeom>
          <a:noFill/>
        </p:spPr>
        <p:txBody>
          <a:bodyPr wrap="square">
            <a:spAutoFit/>
          </a:bodyPr>
          <a:lstStyle/>
          <a:p>
            <a:pPr>
              <a:defRPr sz="1300" b="1">
                <a:solidFill>
                  <a:srgbClr val="0D9488"/>
                </a:solidFill>
              </a:defRPr>
            </a:pPr>
            <a:r>
              <a:t>Doctor Portal Demo</a:t>
            </a:r>
          </a:p>
          <a:p>
            <a:pPr>
              <a:spcBef>
                <a:spcPts val="200"/>
              </a:spcBef>
              <a:spcAft>
                <a:spcPts val="800"/>
              </a:spcAft>
              <a:defRPr sz="950" b="1">
                <a:solidFill>
                  <a:srgbClr val="0F172A"/>
                </a:solidFill>
              </a:defRPr>
            </a:pPr>
            <a:r>
              <a:t>Email: doctor.sharma@carepulse.ai</a:t>
            </a:r>
            <a:br/>
            <a:r>
              <a:t>Password: Password@123</a:t>
            </a:r>
          </a:p>
          <a:p>
            <a:pPr>
              <a:spcAft>
                <a:spcPts val="300"/>
              </a:spcAft>
              <a:defRPr sz="950">
                <a:solidFill>
                  <a:srgbClr val="1E293B"/>
                </a:solidFill>
              </a:defRPr>
            </a:pPr>
            <a:r>
              <a:t>1. View today's OPD patient queue roster.</a:t>
            </a:r>
          </a:p>
          <a:p>
            <a:pPr>
              <a:spcAft>
                <a:spcPts val="300"/>
              </a:spcAft>
              <a:defRPr sz="950">
                <a:solidFill>
                  <a:srgbClr val="1E293B"/>
                </a:solidFill>
              </a:defRPr>
            </a:pPr>
            <a:r>
              <a:t>2. Call next patient into consultation.</a:t>
            </a:r>
          </a:p>
          <a:p>
            <a:pPr>
              <a:spcAft>
                <a:spcPts val="300"/>
              </a:spcAft>
              <a:defRPr sz="950">
                <a:solidFill>
                  <a:srgbClr val="1E293B"/>
                </a:solidFill>
              </a:defRPr>
            </a:pPr>
            <a:r>
              <a:t>3. Conduct WebRTC video call with notes.</a:t>
            </a:r>
          </a:p>
          <a:p>
            <a:pPr>
              <a:spcAft>
                <a:spcPts val="300"/>
              </a:spcAft>
              <a:defRPr sz="950">
                <a:solidFill>
                  <a:srgbClr val="1E293B"/>
                </a:solidFill>
              </a:defRPr>
            </a:pPr>
            <a:r>
              <a:t>4. Generate dosage-timed digital prescription.</a:t>
            </a:r>
          </a:p>
          <a:p>
            <a:pPr>
              <a:spcAft>
                <a:spcPts val="300"/>
              </a:spcAft>
              <a:defRPr sz="950">
                <a:solidFill>
                  <a:srgbClr val="1E293B"/>
                </a:solidFill>
              </a:defRPr>
            </a:pPr>
            <a:r>
              <a:t>5. Review patient past medical records.</a:t>
            </a:r>
          </a:p>
        </p:txBody>
      </p:sp>
      <p:sp>
        <p:nvSpPr>
          <p:cNvPr id="12" name="Rounded Rectangle 11"/>
          <p:cNvSpPr/>
          <p:nvPr/>
        </p:nvSpPr>
        <p:spPr>
          <a:xfrm>
            <a:off x="7955280" y="2926080"/>
            <a:ext cx="3474720" cy="3291840"/>
          </a:xfrm>
          <a:prstGeom prst="roundRect">
            <a:avLst/>
          </a:prstGeom>
          <a:solidFill>
            <a:srgbClr val="F8FAFC"/>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38160" y="3090672"/>
            <a:ext cx="3108960" cy="2971800"/>
          </a:xfrm>
          <a:prstGeom prst="rect">
            <a:avLst/>
          </a:prstGeom>
          <a:noFill/>
        </p:spPr>
        <p:txBody>
          <a:bodyPr wrap="square">
            <a:spAutoFit/>
          </a:bodyPr>
          <a:lstStyle/>
          <a:p>
            <a:pPr>
              <a:defRPr sz="1300" b="1">
                <a:solidFill>
                  <a:srgbClr val="0F172A"/>
                </a:solidFill>
              </a:defRPr>
            </a:pPr>
            <a:r>
              <a:t>Admin Console Demo</a:t>
            </a:r>
          </a:p>
          <a:p>
            <a:pPr>
              <a:spcBef>
                <a:spcPts val="200"/>
              </a:spcBef>
              <a:spcAft>
                <a:spcPts val="800"/>
              </a:spcAft>
              <a:defRPr sz="950" b="1">
                <a:solidFill>
                  <a:srgbClr val="0F172A"/>
                </a:solidFill>
              </a:defRPr>
            </a:pPr>
            <a:r>
              <a:t>Email: admin@carepulse.ai</a:t>
            </a:r>
            <a:br/>
            <a:r>
              <a:t>Password: Password@123</a:t>
            </a:r>
          </a:p>
          <a:p>
            <a:pPr>
              <a:spcAft>
                <a:spcPts val="300"/>
              </a:spcAft>
              <a:defRPr sz="950">
                <a:solidFill>
                  <a:srgbClr val="1E293B"/>
                </a:solidFill>
              </a:defRPr>
            </a:pPr>
            <a:r>
              <a:t>1. Open AI OPD Inflow Predictor.</a:t>
            </a:r>
          </a:p>
          <a:p>
            <a:pPr>
              <a:spcAft>
                <a:spcPts val="300"/>
              </a:spcAft>
              <a:defRPr sz="950">
                <a:solidFill>
                  <a:srgbClr val="1E293B"/>
                </a:solidFill>
              </a:defRPr>
            </a:pPr>
            <a:r>
              <a:t>2. Review tomorrow's 186-patient forecast.</a:t>
            </a:r>
          </a:p>
          <a:p>
            <a:pPr>
              <a:spcAft>
                <a:spcPts val="300"/>
              </a:spcAft>
              <a:defRPr sz="950">
                <a:solidFill>
                  <a:srgbClr val="1E293B"/>
                </a:solidFill>
              </a:defRPr>
            </a:pPr>
            <a:r>
              <a:t>3. View Peak Time &amp; Doctor Allocation.</a:t>
            </a:r>
          </a:p>
          <a:p>
            <a:pPr>
              <a:spcAft>
                <a:spcPts val="300"/>
              </a:spcAft>
              <a:defRPr sz="950">
                <a:solidFill>
                  <a:srgbClr val="1E293B"/>
                </a:solidFill>
              </a:defRPr>
            </a:pPr>
            <a:r>
              <a:t>4. Explore the 4 Chart.js analytics views.</a:t>
            </a:r>
          </a:p>
          <a:p>
            <a:pPr>
              <a:spcAft>
                <a:spcPts val="300"/>
              </a:spcAft>
              <a:defRPr sz="950">
                <a:solidFill>
                  <a:srgbClr val="1E293B"/>
                </a:solidFill>
              </a:defRPr>
            </a:pPr>
            <a:r>
              <a:t>5. Inspect Funnel &amp; Revenue Ledger.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744200" cy="914400"/>
          </a:xfrm>
          <a:prstGeom prst="rect">
            <a:avLst/>
          </a:prstGeom>
          <a:noFill/>
        </p:spPr>
        <p:txBody>
          <a:bodyPr wrap="square">
            <a:spAutoFit/>
          </a:bodyPr>
          <a:lstStyle/>
          <a:p>
            <a:pPr>
              <a:defRPr sz="1200" b="1">
                <a:solidFill>
                  <a:srgbClr val="06B6D4"/>
                </a:solidFill>
              </a:defRPr>
            </a:pPr>
            <a:r>
              <a:t>CONCLUSION &amp; FUTURE HORIZONS</a:t>
            </a:r>
          </a:p>
          <a:p>
            <a:pPr>
              <a:defRPr sz="2400" b="1">
                <a:solidFill>
                  <a:srgbClr val="FFFFFF"/>
                </a:solidFill>
              </a:defRPr>
            </a:pPr>
            <a:r>
              <a:t>CarePulse AI: Transforming Hospital Operations with Machine Intelligence</a:t>
            </a:r>
          </a:p>
        </p:txBody>
      </p:sp>
      <p:sp>
        <p:nvSpPr>
          <p:cNvPr id="4" name="Rounded Rectangle 3"/>
          <p:cNvSpPr/>
          <p:nvPr/>
        </p:nvSpPr>
        <p:spPr>
          <a:xfrm>
            <a:off x="731520" y="1645920"/>
            <a:ext cx="3474720" cy="4389120"/>
          </a:xfrm>
          <a:prstGeom prst="roundRect">
            <a:avLst/>
          </a:prstGeom>
          <a:solidFill>
            <a:srgbClr val="1E293B"/>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3108960" cy="4023360"/>
          </a:xfrm>
          <a:prstGeom prst="rect">
            <a:avLst/>
          </a:prstGeom>
          <a:noFill/>
        </p:spPr>
        <p:txBody>
          <a:bodyPr wrap="square">
            <a:spAutoFit/>
          </a:bodyPr>
          <a:lstStyle/>
          <a:p>
            <a:pPr>
              <a:spcAft>
                <a:spcPts val="1200"/>
              </a:spcAft>
              <a:defRPr sz="1400" b="1">
                <a:solidFill>
                  <a:srgbClr val="06B6D4"/>
                </a:solidFill>
              </a:defRPr>
            </a:pPr>
            <a:r>
              <a:t>Key Accomplishments</a:t>
            </a:r>
          </a:p>
          <a:p>
            <a:pPr>
              <a:spcAft>
                <a:spcPts val="600"/>
              </a:spcAft>
              <a:defRPr sz="1000">
                <a:solidFill>
                  <a:srgbClr val="E2E8F0"/>
                </a:solidFill>
              </a:defRPr>
            </a:pPr>
            <a:r>
              <a:t>• Fully deployed, production-ready healthcare web application.</a:t>
            </a:r>
          </a:p>
          <a:p>
            <a:pPr>
              <a:spcAft>
                <a:spcPts val="600"/>
              </a:spcAft>
              <a:defRPr sz="1000">
                <a:solidFill>
                  <a:srgbClr val="E2E8F0"/>
                </a:solidFill>
              </a:defRPr>
            </a:pPr>
            <a:r>
              <a:t>• Dual AI engine: NLP symptom classifier + Random Forest OPD inflow predictor.</a:t>
            </a:r>
          </a:p>
          <a:p>
            <a:pPr>
              <a:spcAft>
                <a:spcPts val="600"/>
              </a:spcAft>
              <a:defRPr sz="1000">
                <a:solidFill>
                  <a:srgbClr val="E2E8F0"/>
                </a:solidFill>
              </a:defRPr>
            </a:pPr>
            <a:r>
              <a:t>• Zero-install browser WebRTC video telemedicine suite.</a:t>
            </a:r>
          </a:p>
          <a:p>
            <a:pPr>
              <a:spcAft>
                <a:spcPts val="600"/>
              </a:spcAft>
              <a:defRPr sz="1000">
                <a:solidFill>
                  <a:srgbClr val="E2E8F0"/>
                </a:solidFill>
              </a:defRPr>
            </a:pPr>
            <a:r>
              <a:t>• ACID transactional double-booking prevention.</a:t>
            </a:r>
          </a:p>
          <a:p>
            <a:pPr>
              <a:spcAft>
                <a:spcPts val="600"/>
              </a:spcAft>
              <a:defRPr sz="1000">
                <a:solidFill>
                  <a:srgbClr val="E2E8F0"/>
                </a:solidFill>
              </a:defRPr>
            </a:pPr>
            <a:r>
              <a:t>• Dynamic queue wait-time estimation algorithm.</a:t>
            </a:r>
          </a:p>
          <a:p>
            <a:pPr>
              <a:spcAft>
                <a:spcPts val="600"/>
              </a:spcAft>
              <a:defRPr sz="1000">
                <a:solidFill>
                  <a:srgbClr val="E2E8F0"/>
                </a:solidFill>
              </a:defRPr>
            </a:pPr>
            <a:r>
              <a:t>• Digital prescription vault &amp; medication reminder engine.</a:t>
            </a:r>
          </a:p>
        </p:txBody>
      </p:sp>
      <p:sp>
        <p:nvSpPr>
          <p:cNvPr id="6" name="Rounded Rectangle 5"/>
          <p:cNvSpPr/>
          <p:nvPr/>
        </p:nvSpPr>
        <p:spPr>
          <a:xfrm>
            <a:off x="4343400" y="1645920"/>
            <a:ext cx="3474720" cy="4389120"/>
          </a:xfrm>
          <a:prstGeom prst="roundRect">
            <a:avLst/>
          </a:prstGeom>
          <a:solidFill>
            <a:srgbClr val="1E293B"/>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26280" y="1828800"/>
            <a:ext cx="3108960" cy="4023360"/>
          </a:xfrm>
          <a:prstGeom prst="rect">
            <a:avLst/>
          </a:prstGeom>
          <a:noFill/>
        </p:spPr>
        <p:txBody>
          <a:bodyPr wrap="square">
            <a:spAutoFit/>
          </a:bodyPr>
          <a:lstStyle/>
          <a:p>
            <a:pPr>
              <a:spcAft>
                <a:spcPts val="1200"/>
              </a:spcAft>
              <a:defRPr sz="1400" b="1">
                <a:solidFill>
                  <a:srgbClr val="0D9488"/>
                </a:solidFill>
              </a:defRPr>
            </a:pPr>
            <a:r>
              <a:t>Future Roadmap</a:t>
            </a:r>
          </a:p>
          <a:p>
            <a:pPr>
              <a:spcAft>
                <a:spcPts val="600"/>
              </a:spcAft>
              <a:defRPr sz="1000">
                <a:solidFill>
                  <a:srgbClr val="E2E8F0"/>
                </a:solidFill>
              </a:defRPr>
            </a:pPr>
            <a:r>
              <a:t>• FHIR / HL7 EHR Interoperability: Seamless integration with national health stacks.</a:t>
            </a:r>
          </a:p>
          <a:p>
            <a:pPr>
              <a:spcAft>
                <a:spcPts val="600"/>
              </a:spcAft>
              <a:defRPr sz="1000">
                <a:solidFill>
                  <a:srgbClr val="E2E8F0"/>
                </a:solidFill>
              </a:defRPr>
            </a:pPr>
            <a:r>
              <a:t>• IoT Vitals Monitoring: Real-time wearable telemetry (SpO2, heart rate, BP).</a:t>
            </a:r>
          </a:p>
          <a:p>
            <a:pPr>
              <a:spcAft>
                <a:spcPts val="600"/>
              </a:spcAft>
              <a:defRPr sz="1000">
                <a:solidFill>
                  <a:srgbClr val="E2E8F0"/>
                </a:solidFill>
              </a:defRPr>
            </a:pPr>
            <a:r>
              <a:t>• Multilingual Voice AI Triage: Voice-based symptom checking in regional dialects.</a:t>
            </a:r>
          </a:p>
          <a:p>
            <a:pPr>
              <a:spcAft>
                <a:spcPts val="600"/>
              </a:spcAft>
              <a:defRPr sz="1000">
                <a:solidFill>
                  <a:srgbClr val="E2E8F0"/>
                </a:solidFill>
              </a:defRPr>
            </a:pPr>
            <a:r>
              <a:t>• Automated Pharmacy Dispatch: API integration with pharmacy delivery networks.</a:t>
            </a:r>
          </a:p>
          <a:p>
            <a:pPr>
              <a:spcAft>
                <a:spcPts val="600"/>
              </a:spcAft>
              <a:defRPr sz="1000">
                <a:solidFill>
                  <a:srgbClr val="E2E8F0"/>
                </a:solidFill>
              </a:defRPr>
            </a:pPr>
            <a:r>
              <a:t>• Deep Learning Radiology Triage: Chest X-ray and MRI preliminary screening models.</a:t>
            </a:r>
          </a:p>
        </p:txBody>
      </p:sp>
      <p:sp>
        <p:nvSpPr>
          <p:cNvPr id="8" name="Rounded Rectangle 7"/>
          <p:cNvSpPr/>
          <p:nvPr/>
        </p:nvSpPr>
        <p:spPr>
          <a:xfrm>
            <a:off x="7955280" y="1645920"/>
            <a:ext cx="3474720" cy="4389120"/>
          </a:xfrm>
          <a:prstGeom prst="roundRect">
            <a:avLst/>
          </a:prstGeom>
          <a:solidFill>
            <a:srgbClr val="1E293B"/>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38160" y="1828800"/>
            <a:ext cx="3108960" cy="4023360"/>
          </a:xfrm>
          <a:prstGeom prst="rect">
            <a:avLst/>
          </a:prstGeom>
          <a:noFill/>
        </p:spPr>
        <p:txBody>
          <a:bodyPr wrap="square">
            <a:spAutoFit/>
          </a:bodyPr>
          <a:lstStyle/>
          <a:p>
            <a:pPr>
              <a:spcAft>
                <a:spcPts val="1200"/>
              </a:spcAft>
              <a:defRPr sz="1400" b="1">
                <a:solidFill>
                  <a:srgbClr val="D97706"/>
                </a:solidFill>
              </a:defRPr>
            </a:pPr>
            <a:r>
              <a:t>Defense Summary &amp; Q&amp;A</a:t>
            </a:r>
          </a:p>
          <a:p>
            <a:pPr>
              <a:spcAft>
                <a:spcPts val="600"/>
              </a:spcAft>
              <a:defRPr sz="1000">
                <a:solidFill>
                  <a:srgbClr val="E2E8F0"/>
                </a:solidFill>
              </a:defRPr>
            </a:pPr>
            <a:r>
              <a:t>• Live System Status: Active on Port 80 (Apache) &amp; Port 3307 (MariaDB).</a:t>
            </a:r>
          </a:p>
          <a:p>
            <a:pPr>
              <a:spcAft>
                <a:spcPts val="600"/>
              </a:spcAft>
              <a:defRPr sz="1000">
                <a:solidFill>
                  <a:srgbClr val="E2E8F0"/>
                </a:solidFill>
              </a:defRPr>
            </a:pPr>
            <a:r>
              <a:t>• Database: 12 relational 3NF tables fully seeded and verified.</a:t>
            </a:r>
          </a:p>
          <a:p>
            <a:pPr>
              <a:spcAft>
                <a:spcPts val="600"/>
              </a:spcAft>
              <a:defRPr sz="1000">
                <a:solidFill>
                  <a:srgbClr val="E2E8F0"/>
                </a:solidFill>
              </a:defRPr>
            </a:pPr>
            <a:r>
              <a:t>• Code Quality: Clean PHP 8 MVC, PSR standards, OWASP compliance.</a:t>
            </a:r>
          </a:p>
          <a:p>
            <a:pPr>
              <a:spcAft>
                <a:spcPts val="600"/>
              </a:spcAft>
              <a:defRPr sz="1000">
                <a:solidFill>
                  <a:srgbClr val="E2E8F0"/>
                </a:solidFill>
              </a:defRPr>
            </a:pPr>
            <a:r>
              <a:t>• Thank you for your time and evaluation!</a:t>
            </a:r>
          </a:p>
          <a:p>
            <a:pPr>
              <a:spcAft>
                <a:spcPts val="600"/>
              </a:spcAft>
              <a:defRPr sz="1000">
                <a:solidFill>
                  <a:srgbClr val="E2E8F0"/>
                </a:solidFill>
              </a:defRPr>
            </a:pPr>
            <a:r>
              <a:t>• Open for Questions &amp; Live Interactive Demonstration.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